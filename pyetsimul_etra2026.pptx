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720" r:id="rId2"/>
  </p:sldMasterIdLst>
  <p:notesMasterIdLst>
    <p:notesMasterId r:id="rId25"/>
  </p:notesMasterIdLst>
  <p:sldIdLst>
    <p:sldId id="282" r:id="rId3"/>
    <p:sldId id="276" r:id="rId4"/>
    <p:sldId id="310" r:id="rId5"/>
    <p:sldId id="268" r:id="rId6"/>
    <p:sldId id="316" r:id="rId7"/>
    <p:sldId id="317" r:id="rId8"/>
    <p:sldId id="318" r:id="rId9"/>
    <p:sldId id="319" r:id="rId10"/>
    <p:sldId id="320" r:id="rId11"/>
    <p:sldId id="275" r:id="rId12"/>
    <p:sldId id="286" r:id="rId13"/>
    <p:sldId id="284" r:id="rId14"/>
    <p:sldId id="289" r:id="rId15"/>
    <p:sldId id="292" r:id="rId16"/>
    <p:sldId id="295" r:id="rId17"/>
    <p:sldId id="298" r:id="rId18"/>
    <p:sldId id="322" r:id="rId19"/>
    <p:sldId id="301" r:id="rId20"/>
    <p:sldId id="305" r:id="rId21"/>
    <p:sldId id="321" r:id="rId22"/>
    <p:sldId id="323" r:id="rId23"/>
    <p:sldId id="3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D3F"/>
    <a:srgbClr val="91A3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77217"/>
  </p:normalViewPr>
  <p:slideViewPr>
    <p:cSldViewPr snapToGrid="0">
      <p:cViewPr varScale="1">
        <p:scale>
          <a:sx n="110" d="100"/>
          <a:sy n="110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DE503-5301-9342-8DA8-25CB25DB815B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B45CF-8A41-0A4E-A793-5EDC1C291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2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video-based eye tracker estimates gaze from the eye image</a:t>
            </a:r>
          </a:p>
          <a:p>
            <a:r>
              <a:rPr lang="en-US"/>
              <a:t>Two routes to get there:</a:t>
            </a:r>
          </a:p>
          <a:p>
            <a:r>
              <a:rPr lang="en-US"/>
              <a:t>    hand-crafted features — find the pupil + corneal reflection, then fit a geometric / polynomial gaze model (top row)</a:t>
            </a:r>
          </a:p>
          <a:p>
            <a:r>
              <a:rPr lang="en-US"/>
              <a:t>    end-to-end — a deep network (CNN) maps the eye image straight to a gaze point (bottom row)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5E8A85"/>
                </a:solidFill>
              </a:rPr>
              <a:t>Both pipelines depend on the eye's optics — the cornea reflects and refracts, and the pupil projects through the cornea to the camera.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rgbClr val="5E8A85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5E8A85"/>
                </a:solidFill>
              </a:rPr>
              <a:t>That geometry is known and </a:t>
            </a:r>
            <a:r>
              <a:rPr lang="en-US" sz="1200" err="1">
                <a:solidFill>
                  <a:srgbClr val="5E8A85"/>
                </a:solidFill>
              </a:rPr>
              <a:t>modelable</a:t>
            </a:r>
            <a:r>
              <a:rPr lang="en-US" sz="1200">
                <a:solidFill>
                  <a:srgbClr val="5E8A85"/>
                </a:solidFill>
              </a:rPr>
              <a:t> — not a mystery we have to learn from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rgbClr val="5E8A85"/>
              </a:solidFill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Factors: angle kappa, pupil center, corneal shape; camera &amp; light placement; noise</a:t>
            </a:r>
          </a:p>
          <a:p>
            <a:r>
              <a:rPr lang="en-US"/>
              <a:t>- Black box → you can't change one factor at a time and watch its effect</a:t>
            </a:r>
          </a:p>
          <a:p>
            <a:r>
              <a:rPr lang="en-US"/>
              <a:t>- Feature level = exact pupil + corneal-reflection positions; full control of every parameter → isolate each factor and "open the black box"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Default eye parameters (corneal radii, axial length, …) — Boff, Kaufman &amp; Thomas (1986)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Corneal reflection (glint)</a:t>
            </a:r>
          </a:p>
          <a:p>
            <a:r>
              <a:rPr lang="en-US"/>
              <a:t>    Normal:         n(a) = [</a:t>
            </a:r>
            <a:r>
              <a:rPr lang="en-US" err="1"/>
              <a:t>a·d_c</a:t>
            </a:r>
            <a:r>
              <a:rPr lang="en-US"/>
              <a:t> + (1−a)·</a:t>
            </a:r>
            <a:r>
              <a:rPr lang="en-US" err="1"/>
              <a:t>d_l</a:t>
            </a:r>
            <a:r>
              <a:rPr lang="en-US"/>
              <a:t>] / ‖</a:t>
            </a:r>
            <a:r>
              <a:rPr lang="en-US" err="1"/>
              <a:t>a·d_c</a:t>
            </a:r>
            <a:r>
              <a:rPr lang="en-US"/>
              <a:t> + (1−a)·</a:t>
            </a:r>
            <a:r>
              <a:rPr lang="en-US" err="1"/>
              <a:t>d_l</a:t>
            </a:r>
            <a:r>
              <a:rPr lang="en-US"/>
              <a:t>‖</a:t>
            </a:r>
          </a:p>
          <a:p>
            <a:r>
              <a:rPr lang="en-US"/>
              <a:t>    Root function:  f(a) = </a:t>
            </a:r>
            <a:r>
              <a:rPr lang="en-US" err="1"/>
              <a:t>arccos</a:t>
            </a:r>
            <a:r>
              <a:rPr lang="en-US"/>
              <a:t>(n(a)·</a:t>
            </a:r>
            <a:r>
              <a:rPr lang="en-US" err="1"/>
              <a:t>u_c</a:t>
            </a:r>
            <a:r>
              <a:rPr lang="en-US"/>
              <a:t>) − </a:t>
            </a:r>
            <a:r>
              <a:rPr lang="en-US" err="1"/>
              <a:t>arccos</a:t>
            </a:r>
            <a:r>
              <a:rPr lang="en-US"/>
              <a:t>(n(a)·</a:t>
            </a:r>
            <a:r>
              <a:rPr lang="en-US" err="1"/>
              <a:t>u_l</a:t>
            </a:r>
            <a:r>
              <a:rPr lang="en-US"/>
              <a:t>) = 0</a:t>
            </a:r>
          </a:p>
          <a:p>
            <a:r>
              <a:rPr lang="en-US"/>
              <a:t>    Solved with Brent's method</a:t>
            </a:r>
          </a:p>
          <a:p>
            <a:endParaRPr lang="en-US"/>
          </a:p>
          <a:p>
            <a:r>
              <a:rPr lang="en-US"/>
              <a:t>    </a:t>
            </a:r>
            <a:r>
              <a:rPr lang="en-US" err="1"/>
              <a:t>d_c</a:t>
            </a:r>
            <a:r>
              <a:rPr lang="en-US"/>
              <a:t>, </a:t>
            </a:r>
            <a:r>
              <a:rPr lang="en-US" err="1"/>
              <a:t>d_l</a:t>
            </a:r>
            <a:r>
              <a:rPr lang="en-US"/>
              <a:t> = directions to camera/light</a:t>
            </a:r>
          </a:p>
          <a:p>
            <a:r>
              <a:rPr lang="en-US"/>
              <a:t>    </a:t>
            </a:r>
            <a:r>
              <a:rPr lang="en-US" err="1"/>
              <a:t>u_c</a:t>
            </a:r>
            <a:r>
              <a:rPr lang="en-US"/>
              <a:t>, </a:t>
            </a:r>
            <a:r>
              <a:rPr lang="en-US" err="1"/>
              <a:t>u_l</a:t>
            </a:r>
            <a:r>
              <a:rPr lang="en-US"/>
              <a:t> = unit vectors to camera/light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38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Corneal refraction (pupil)</a:t>
            </a:r>
          </a:p>
          <a:p>
            <a:r>
              <a:rPr lang="en-US"/>
              <a:t>    Snell:          n₁ sin </a:t>
            </a:r>
            <a:r>
              <a:rPr lang="el-GR"/>
              <a:t>θ₁ = </a:t>
            </a:r>
            <a:r>
              <a:rPr lang="en-US"/>
              <a:t>n₂ sin </a:t>
            </a:r>
            <a:r>
              <a:rPr lang="el-GR"/>
              <a:t>θ₂</a:t>
            </a:r>
          </a:p>
          <a:p>
            <a:r>
              <a:rPr lang="el-GR"/>
              <a:t>    </a:t>
            </a:r>
            <a:r>
              <a:rPr lang="en-US"/>
              <a:t>Root function:  f(a) = </a:t>
            </a:r>
            <a:r>
              <a:rPr lang="en-US" err="1"/>
              <a:t>n_air·sin</a:t>
            </a:r>
            <a:r>
              <a:rPr lang="en-US"/>
              <a:t> </a:t>
            </a:r>
            <a:r>
              <a:rPr lang="el-GR"/>
              <a:t>θ_</a:t>
            </a:r>
            <a:r>
              <a:rPr lang="en-US"/>
              <a:t>camera − </a:t>
            </a:r>
            <a:r>
              <a:rPr lang="en-US" err="1"/>
              <a:t>n_cornea·sin</a:t>
            </a:r>
            <a:r>
              <a:rPr lang="en-US"/>
              <a:t> </a:t>
            </a:r>
            <a:r>
              <a:rPr lang="el-GR"/>
              <a:t>θ_</a:t>
            </a:r>
            <a:r>
              <a:rPr lang="en-US"/>
              <a:t>pupil = 0</a:t>
            </a:r>
          </a:p>
          <a:p>
            <a:r>
              <a:rPr lang="en-US"/>
              <a:t>    Solved numerically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3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Conic cornea</a:t>
            </a:r>
          </a:p>
          <a:p>
            <a:r>
              <a:rPr lang="en-US"/>
              <a:t>    Surface:      (</a:t>
            </a:r>
            <a:r>
              <a:rPr lang="en-US" err="1"/>
              <a:t>x−c</a:t>
            </a:r>
            <a:r>
              <a:rPr lang="en-US"/>
              <a:t>ₓ)² + (y−</a:t>
            </a:r>
            <a:r>
              <a:rPr lang="en-US" err="1"/>
              <a:t>c_y</a:t>
            </a:r>
            <a:r>
              <a:rPr lang="en-US"/>
              <a:t>)² + (1+k)(z−</a:t>
            </a:r>
            <a:r>
              <a:rPr lang="en-US" err="1"/>
              <a:t>c_z</a:t>
            </a:r>
            <a:r>
              <a:rPr lang="en-US"/>
              <a:t>)² − 2R(z−</a:t>
            </a:r>
            <a:r>
              <a:rPr lang="en-US" err="1"/>
              <a:t>c_z</a:t>
            </a:r>
            <a:r>
              <a:rPr lang="en-US"/>
              <a:t>) = 0</a:t>
            </a:r>
          </a:p>
          <a:p>
            <a:r>
              <a:rPr lang="en-US"/>
              <a:t>        apex at z = −R/(1+k);    k&lt;0 prolate,  k=0 sphere,  k&gt;0 oblate</a:t>
            </a:r>
          </a:p>
          <a:p>
            <a:r>
              <a:rPr lang="en-US"/>
              <a:t>    Normal:       n = ∇F = ( 2(</a:t>
            </a:r>
            <a:r>
              <a:rPr lang="en-US" err="1"/>
              <a:t>x−c</a:t>
            </a:r>
            <a:r>
              <a:rPr lang="en-US"/>
              <a:t>ₓ),  2(y−</a:t>
            </a:r>
            <a:r>
              <a:rPr lang="en-US" err="1"/>
              <a:t>c_y</a:t>
            </a:r>
            <a:r>
              <a:rPr lang="en-US"/>
              <a:t>),  2(1+k)(z−</a:t>
            </a:r>
            <a:r>
              <a:rPr lang="en-US" err="1"/>
              <a:t>c_z</a:t>
            </a:r>
            <a:r>
              <a:rPr lang="en-US"/>
              <a:t>) − 2R )</a:t>
            </a:r>
          </a:p>
          <a:p>
            <a:r>
              <a:rPr lang="en-US"/>
              <a:t>    Fovea:        f = </a:t>
            </a:r>
            <a:r>
              <a:rPr lang="el-GR"/>
              <a:t>ρ ( </a:t>
            </a:r>
            <a:r>
              <a:rPr lang="en-US"/>
              <a:t>sin </a:t>
            </a:r>
            <a:r>
              <a:rPr lang="el-GR"/>
              <a:t>α </a:t>
            </a:r>
            <a:r>
              <a:rPr lang="en-US"/>
              <a:t>cos </a:t>
            </a:r>
            <a:r>
              <a:rPr lang="el-GR"/>
              <a:t>β,  </a:t>
            </a:r>
            <a:r>
              <a:rPr lang="en-US"/>
              <a:t>sin </a:t>
            </a:r>
            <a:r>
              <a:rPr lang="el-GR"/>
              <a:t>β,  </a:t>
            </a:r>
            <a:r>
              <a:rPr lang="en-US"/>
              <a:t>cos </a:t>
            </a:r>
            <a:r>
              <a:rPr lang="el-GR"/>
              <a:t>α </a:t>
            </a:r>
            <a:r>
              <a:rPr lang="en-US"/>
              <a:t>cos </a:t>
            </a:r>
            <a:r>
              <a:rPr lang="el-GR"/>
              <a:t>β ),   ρ = </a:t>
            </a:r>
            <a:r>
              <a:rPr lang="en-US"/>
              <a:t>L/2</a:t>
            </a:r>
          </a:p>
          <a:p>
            <a:r>
              <a:rPr lang="en-US"/>
              <a:t>    Angle kappa:  </a:t>
            </a:r>
            <a:r>
              <a:rPr lang="el-GR"/>
              <a:t>κ = </a:t>
            </a:r>
            <a:r>
              <a:rPr lang="en-US" err="1"/>
              <a:t>arccos</a:t>
            </a:r>
            <a:r>
              <a:rPr lang="en-US"/>
              <a:t> | v̂ · </a:t>
            </a:r>
            <a:r>
              <a:rPr lang="en-US" err="1"/>
              <a:t>ô</a:t>
            </a:r>
            <a:r>
              <a:rPr lang="en-US"/>
              <a:t> |,    </a:t>
            </a:r>
            <a:r>
              <a:rPr lang="en-US" err="1"/>
              <a:t>ô</a:t>
            </a:r>
            <a:r>
              <a:rPr lang="en-US"/>
              <a:t> = (0, 0, −1)</a:t>
            </a:r>
          </a:p>
          <a:p>
            <a:endParaRPr lang="en-US"/>
          </a:p>
          <a:p>
            <a:r>
              <a:rPr lang="en-US"/>
              <a:t>    R = apex radius of curvature;  k = conic constant;  c = center;  L = axial length</a:t>
            </a:r>
          </a:p>
          <a:p>
            <a:r>
              <a:rPr lang="en-US"/>
              <a:t>    </a:t>
            </a:r>
            <a:r>
              <a:rPr lang="el-GR"/>
              <a:t>α, β = </a:t>
            </a:r>
            <a:r>
              <a:rPr lang="en-US"/>
              <a:t>fovea displacement angles;  v̂ = visual axis (to fovea);  </a:t>
            </a:r>
            <a:r>
              <a:rPr lang="en-US" err="1"/>
              <a:t>ô</a:t>
            </a:r>
            <a:r>
              <a:rPr lang="en-US"/>
              <a:t> = optical axis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9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Spherical cornea  (k = 0 special case of the conic)</a:t>
            </a:r>
          </a:p>
          <a:p>
            <a:r>
              <a:rPr lang="en-US"/>
              <a:t>    Surface:  (</a:t>
            </a:r>
            <a:r>
              <a:rPr lang="en-US" err="1"/>
              <a:t>x−c</a:t>
            </a:r>
            <a:r>
              <a:rPr lang="en-US"/>
              <a:t>ₓ)² + (y−</a:t>
            </a:r>
            <a:r>
              <a:rPr lang="en-US" err="1"/>
              <a:t>c_y</a:t>
            </a:r>
            <a:r>
              <a:rPr lang="en-US"/>
              <a:t>)² + (z−</a:t>
            </a:r>
            <a:r>
              <a:rPr lang="en-US" err="1"/>
              <a:t>c_z</a:t>
            </a:r>
            <a:r>
              <a:rPr lang="en-US"/>
              <a:t>)² = R²        i.e.  ‖p − c‖ = R</a:t>
            </a:r>
          </a:p>
          <a:p>
            <a:r>
              <a:rPr lang="en-US"/>
              <a:t>    Normal:   n = (p − c) / ‖p − c‖</a:t>
            </a:r>
          </a:p>
          <a:p>
            <a:r>
              <a:rPr lang="en-US"/>
              <a:t>    Apex:     c + (0, 0, −R)</a:t>
            </a:r>
          </a:p>
          <a:p>
            <a:r>
              <a:rPr lang="en-US"/>
              <a:t>    Scaling (Boff &amp; Lincoln 1988):  s = R / R_ref   →   posterior radius &amp; thickness scale by s</a:t>
            </a:r>
          </a:p>
          <a:p>
            <a:endParaRPr lang="en-US"/>
          </a:p>
          <a:p>
            <a:r>
              <a:rPr lang="en-US"/>
              <a:t>    R = corneal radius;  c = center;  p = surface point;  s = anatomical scale factor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53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y-GB"/>
              <a:t>Pupil model</a:t>
            </a:r>
          </a:p>
          <a:p>
            <a:r>
              <a:rPr lang="cy-GB"/>
              <a:t>    Elliptical:                  p(α) = c + cos α · x̂ + sin α · ŷ,   α ∈ [0, 2π)</a:t>
            </a:r>
          </a:p>
          <a:p>
            <a:r>
              <a:rPr lang="cy-GB"/>
              <a:t>    Realistic (Wyatt 1995):      R(θ) = r̄ + Σ rₙ cos( n(θ − φₙ) ),   n = 2…N</a:t>
            </a:r>
          </a:p>
          <a:p>
            <a:r>
              <a:rPr lang="cy-GB"/>
              <a:t>        noncircularity:          NC² = ½ Σ (rₙ / r̄)²,   n = 2…N</a:t>
            </a:r>
          </a:p>
          <a:p>
            <a:r>
              <a:rPr lang="cy-GB"/>
              <a:t>    Decentration (Wildenmann 2013, linear):</a:t>
            </a:r>
          </a:p>
          <a:p>
            <a:r>
              <a:rPr lang="cy-GB"/>
              <a:t>        Δx = cₓ (d − d₀),    Δy = c_y (d − d₀)</a:t>
            </a:r>
          </a:p>
          <a:p>
            <a:endParaRPr lang="cy-GB"/>
          </a:p>
          <a:p>
            <a:r>
              <a:rPr lang="cy-GB"/>
              <a:t>    c = pupil center;  x̂, ŷ = semi-axis vectors;  r̄ = mean radius</a:t>
            </a:r>
          </a:p>
          <a:p>
            <a:r>
              <a:rPr lang="cy-GB"/>
              <a:t>    rₙ, φₙ = harmonic amplitude / phase;  d = diameter;  d₀ = baseline;  cₓ, c_y = coeffs (mm/mm)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58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PyEtSimul core components reproduce et_simul's MATLAB output exactly (numerical equivalence)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r>
              <a:rPr lang="en-US"/>
              <a:t>- et_simul = MATLAB only → needs a paid license (adoption barrier)</a:t>
            </a:r>
          </a:p>
          <a:p>
            <a:r>
              <a:rPr lang="en-US"/>
              <a:t>	No new development since its initial release (Böhme 2008)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Stampe (1993) — cross-term-free 2nd-order polynomial + per-quadrant corner correction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Polynomial (inner 5 pts, no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x̃ = a₀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a₁x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a₂y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a₃x² + a₄y²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ỹ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b₀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b₁x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b₂y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b₃x² + b₄y²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Corner correction (outer 4 corners → restores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gaze_x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x̃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kˣ_Q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(x̃ − x̄)(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ỹ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ȳ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gaze_y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ỹ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kʸ_Q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(x̃ − x̄)(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ỹ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ȳ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 = pupil − corneal reflection   (x̄,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ȳ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target centroid   Q = quadrant</a:t>
            </a:r>
          </a:p>
          <a:p>
            <a:endParaRPr lang="en-US"/>
          </a:p>
          <a:p>
            <a:r>
              <a:rPr lang="en-US"/>
              <a:t>Stampe, D. M. (1993). Heuristic filtering and reliable calibration methods for video-based pupil-tracking systems. Behavior Research Methods, Instruments, &amp; Computers, 25(2), 137-142.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58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6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5E8A85"/>
                </a:solidFill>
                <a:latin typeface="Source Sans Pro"/>
                <a:ea typeface="Source Sans Pro"/>
              </a:rPr>
              <a:t>The simulator computes the pupil shape and glint location as the eyes rotate to look at different targets.</a:t>
            </a:r>
          </a:p>
          <a:p>
            <a:endParaRPr lang="en-US" dirty="0"/>
          </a:p>
          <a:p>
            <a:r>
              <a:rPr lang="en-US" dirty="0"/>
              <a:t>Dark ellipse = the pupil (seen through the cornea)</a:t>
            </a:r>
          </a:p>
          <a:p>
            <a:r>
              <a:rPr lang="en-US" dirty="0"/>
              <a:t>no eyelid, so the pupil is fully visible in this setup</a:t>
            </a:r>
          </a:p>
          <a:p>
            <a:r>
              <a:rPr lang="en-US" dirty="0"/>
              <a:t>Bright dot = the glint (reflection of the IR light on the cornea)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5E8A85"/>
                </a:solidFill>
                <a:latin typeface="Source Sans Pro"/>
                <a:ea typeface="Source Sans Pro"/>
              </a:rPr>
              <a:t>With the pupil and glint computed, we can build an eye tracker.</a:t>
            </a:r>
          </a:p>
          <a:p>
            <a:endParaRPr lang="en-US"/>
          </a:p>
          <a:p>
            <a:r>
              <a:rPr lang="en-US"/>
              <a:t>Inputs: pupil center + glint → the pupil-glint (P-CR) vector, per eye</a:t>
            </a:r>
          </a:p>
          <a:p>
            <a:r>
              <a:rPr lang="en-US"/>
              <a:t>We fit a Stampe 1993 model per eye on the HV9 points</a:t>
            </a:r>
          </a:p>
          <a:p>
            <a:r>
              <a:rPr lang="en-US"/>
              <a:t>Why ~0 calibration error: HV9 = 5 inner (center + edges) fix the 5 coeffs exactly, 4 corners fix the 4 corrections exactly → all 9 points fit exactly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Screen Test = eye stays in place; the target moves across a grid</a:t>
            </a:r>
          </a:p>
          <a:p>
            <a:r>
              <a:rPr lang="en-US"/>
              <a:t>Error stays low; smallest right at the calibration points (robust to gaze direction)</a:t>
            </a:r>
          </a:p>
          <a:p>
            <a:r>
              <a:rPr lang="en-US"/>
              <a:t>In the paper we used a different polynomial and geometry than this deck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Observer Test = gaze stays on a single central target; the head/eye position moves across a grid</a:t>
            </a:r>
          </a:p>
          <a:p>
            <a:r>
              <a:rPr lang="en-US"/>
              <a:t>Error grows with head movement — Stampe uses only pupil + corneal reflection, no head-movement compensation</a:t>
            </a:r>
          </a:p>
          <a:p>
            <a:r>
              <a:rPr lang="en-US"/>
              <a:t>In the paper we used a different polynomial and geometry than this deck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4F1E-585D-A806-0B5A-0D2FBCE6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7F85AAB-B7F6-C946-2AF2-32FD68B4A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experiment investigates the effect of pupil center shift on gaze estimation in more detail, along with the pupil size artifact (PSA)---the systematic error in video-based eye trackers where changes in pupil size produce apparent gaze shifts in the absence of eye rotation~\</a:t>
            </a:r>
            <a:r>
              <a:rPr 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citep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{hooge2021pupil, salari2025effect}. One proposed mechanism behind PSA is physiological pupil decentration~\</a:t>
            </a:r>
            <a:r>
              <a:rPr 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citep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{hooge2021pupil, salari2025effect}---as the pupil dilates or constricts, its geometric center shifts rather than scaling concentrically~\</a:t>
            </a:r>
            <a:r>
              <a:rPr 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citep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{wildenmann2013variations}, which can bias gaze estimates.</a:t>
            </a: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77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Constricted → dilated: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3.16 → 5.61 mm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2.45 mm)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Pupil‑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(0.15, 0.27) mm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decentration: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cx = 0.060, cy = 0.110 mm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/mm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Calibrated at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Constricted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3.16mm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UnityEyes (Wood 2016), NVGaze (Kim 2019)</a:t>
            </a:r>
          </a:p>
          <a:p>
            <a:r>
              <a:rPr lang="en-US"/>
              <a:t>Visisipy (2024) — clinical eye optics only; no light sources, no gaze algorithms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Cheshm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cross-platform (Linux, macOS, Windows) C++ library with Python bindings. It packages pupil, glint, and limbus detectors for grayscale eye images, plus rigid alignment of two eye images (glint, pupil, or iris-texture based) and helpers for saving the resulting visualizations to PNG.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033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Qt-based desktop tool for annotating pupil, limbus (iris), eyelid, and glints in eye images. Supports monocular and binocular projects, auto-detectors for each annotation type, and per-eye carry-across-frames workflows.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B45CF-8A41-0A4E-A793-5EDC1C2918E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68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8364-6D91-F365-82F4-86AA2B7C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415DF-EEF4-C6C4-39D9-6DC94C4F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EE14-D790-5330-FDBD-397670AD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A284-BAF0-440C-97BD-081A60BB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741EC-7374-AA57-B4F6-126A75A2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9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8118-F23C-EF97-3067-E6E1DA38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7726-BC75-2264-EE33-2698D911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2BA0D-DE88-FDF0-57E3-92236900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E24E-2708-8948-E967-2A21024B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7D0C-CABE-11F1-BA2E-DFF19E44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4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19A3-47B6-9703-706D-0552B61A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EC31-79AE-FE5C-22AB-4D12DFAED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A17C8-6115-FF54-83B5-2A1FBA9A7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C8820-4ED1-D2D7-51EC-A1F9D7D7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585CD-6BB3-A1AE-8065-DE1F4426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D2123-0E4C-ECA2-E145-0921E43C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B0F8-9962-C7F0-40AB-D593A000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3AFEE-15E5-0350-DE4D-FD3B760DA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6B1D6-C8B1-1C8A-7843-5A9A64A8F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5D874-FD6C-A4DC-9C22-27B7D0141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F2C13-91B7-C5FC-30E1-66175C441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E1305-6CE3-ABCC-9D1B-BF91F1AD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80353-2E11-B0B5-FC43-9B7E1785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C4BE9-E3D8-72EC-819B-22C67097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92F8-8D28-D47A-24A4-85A25EB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799E5-2DA2-5CCF-A92C-C5A5C584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F1EA2-4449-6C99-364F-9B1EBA16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C7880-9D6E-64D6-D978-05DC4AAD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78225-B855-90EC-D0D9-D46668E1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C92BE-C41D-116F-0C20-C96DCD89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9B312-148A-03E9-0B70-C63EBA24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7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D011-2639-F3D0-1F4B-92F87D96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3958-C8D5-033D-0B46-7F2BD4AB9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A8737-E7EA-8E60-BBED-4EE9C56F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1EDBF-9F9D-C84B-6E1F-28F1DDE3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2CF7-D7FD-2974-2E35-6B0927C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5A0C2-ABA7-C0A1-E174-C59F3DD4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2533-90BE-9886-F163-134B032B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4C73C-B213-AF50-8562-B19FBB79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43FA3-41C5-B8D9-8D6B-DEC123DAE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6F2F3-D4D0-34BF-BEC0-CF870E6A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7E2E9-4103-087A-4A6D-1A4906E3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0793E-0BAB-DAB8-ACB7-26F018CB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4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42BB-D239-A7C5-8888-0537FED3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B51EA-2B84-D18F-134A-0506CBF1D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F49F-573E-7AE7-F6FC-C679F607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60626-A5E6-4C73-19AA-BFB28881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9588E-EA3C-7CA9-8377-DA5E12D6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4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9DE48-215B-E9E9-CD14-F9366C1C1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C9F98-01EB-E319-7ADF-F013E221D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9C2B5-C272-9D4D-3CD7-532D4F57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5F3C-368D-2383-E995-43D8F79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7205-3751-3B8A-FCEF-66DDC706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4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87FA-10BA-3BDF-9669-84EAF8D23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3B922-5CC2-CCFB-F653-B22E14041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C477D-DF48-0D5E-7FD4-168A0CC3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E468C-A9E4-1053-2A06-12F0FFD7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2412-998B-E92B-99B3-A65F9716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69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8364-6D91-F365-82F4-86AA2B7C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415DF-EEF4-C6C4-39D9-6DC94C4F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EE14-D790-5330-FDBD-397670AD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A284-BAF0-440C-97BD-081A60BB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741EC-7374-AA57-B4F6-126A75A2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90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8118-F23C-EF97-3067-E6E1DA38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7726-BC75-2264-EE33-2698D911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2BA0D-DE88-FDF0-57E3-92236900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E24E-2708-8948-E967-2A21024B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7D0C-CABE-11F1-BA2E-DFF19E44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45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19A3-47B6-9703-706D-0552B61A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EC31-79AE-FE5C-22AB-4D12DFAED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A17C8-6115-FF54-83B5-2A1FBA9A7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C8820-4ED1-D2D7-51EC-A1F9D7D7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585CD-6BB3-A1AE-8065-DE1F4426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D2123-0E4C-ECA2-E145-0921E43C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4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B0F8-9962-C7F0-40AB-D593A000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3AFEE-15E5-0350-DE4D-FD3B760DA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  <a:lvl6pPr marL="2286000" indent="0">
              <a:buNone/>
              <a:defRPr sz="2000" b="1"/>
            </a:lvl6pPr>
            <a:lvl7pPr marL="2743200" indent="0">
              <a:buNone/>
              <a:defRPr sz="2000" b="1"/>
            </a:lvl7pPr>
            <a:lvl8pPr marL="3200400" indent="0">
              <a:buNone/>
              <a:defRPr sz="2000" b="1"/>
            </a:lvl8pPr>
            <a:lvl9pPr marL="36576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6B1D6-C8B1-1C8A-7843-5A9A64A8F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5D874-FD6C-A4DC-9C22-27B7D0141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  <a:lvl6pPr marL="2286000" indent="0">
              <a:buNone/>
              <a:defRPr sz="2000" b="1"/>
            </a:lvl6pPr>
            <a:lvl7pPr marL="2743200" indent="0">
              <a:buNone/>
              <a:defRPr sz="2000" b="1"/>
            </a:lvl7pPr>
            <a:lvl8pPr marL="3200400" indent="0">
              <a:buNone/>
              <a:defRPr sz="2000" b="1"/>
            </a:lvl8pPr>
            <a:lvl9pPr marL="36576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F2C13-91B7-C5FC-30E1-66175C441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E1305-6CE3-ABCC-9D1B-BF91F1AD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80353-2E11-B0B5-FC43-9B7E1785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C4BE9-E3D8-72EC-819B-22C67097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0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92F8-8D28-D47A-24A4-85A25EB1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799E5-2DA2-5CCF-A92C-C5A5C584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F1EA2-4449-6C99-364F-9B1EBA16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C7880-9D6E-64D6-D978-05DC4AAD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5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78225-B855-90EC-D0D9-D46668E1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C92BE-C41D-116F-0C20-C96DCD89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9B312-148A-03E9-0B70-C63EBA24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776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D011-2639-F3D0-1F4B-92F87D96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3958-C8D5-033D-0B46-7F2BD4AB9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A8737-E7EA-8E60-BBED-4EE9C56F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1EDBF-9F9D-C84B-6E1F-28F1DDE3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2CF7-D7FD-2974-2E35-6B0927C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5A0C2-ABA7-C0A1-E174-C59F3DD4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6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2533-90BE-9886-F163-134B032B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4C73C-B213-AF50-8562-B19FBB79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43FA3-41C5-B8D9-8D6B-DEC123DAE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6F2F3-D4D0-34BF-BEC0-CF870E6A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7E2E9-4103-087A-4A6D-1A4906E3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0793E-0BAB-DAB8-ACB7-26F018CB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41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42BB-D239-A7C5-8888-0537FED3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</p:spPr>
        <p:txBody>
          <a:bodyPr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B51EA-2B84-D18F-134A-0506CBF1D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F49F-573E-7AE7-F6FC-C679F607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60626-A5E6-4C73-19AA-BFB28881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9588E-EA3C-7CA9-8377-DA5E12D6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44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9DE48-215B-E9E9-CD14-F9366C1C1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57200" y="274320"/>
            <a:ext cx="11277600" cy="762000"/>
          </a:xfrm>
        </p:spPr>
        <p:txBody>
          <a:bodyPr vert="eaVert" anchor="ctr"/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C9F98-01EB-E319-7ADF-F013E221D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9C2B5-C272-9D4D-3CD7-532D4F57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5F3C-368D-2383-E995-43D8F79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7205-3751-3B8A-FCEF-66DDC706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4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2EB84-206D-6893-79D1-F142413A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E80E2-B888-B3E5-D96D-D8617B3C9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9574-2554-5B55-EC9F-E7D6DBEE8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965E9-91B0-CACA-B954-5E2A2266F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3DB5-BC80-9BA9-84A8-846A16365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SandBar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C9B89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937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3D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E8A8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2EB84-206D-6893-79D1-F142413A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E80E2-B888-B3E5-D96D-D8617B3C9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9574-2554-5B55-EC9F-E7D6DBEE8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841CD-9F79-4D45-88B8-572BE4F702C6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965E9-91B0-CACA-B954-5E2A2266F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3DB5-BC80-9BA9-84A8-846A16365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F7C55-F370-F543-884E-B02CB120F699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SandBar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C9B89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937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1A3D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E8A8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hyperlink" Target="https://github.com/mh-salari/pyetsimul/blob/main/LICENS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yetsimul.readthedocs.io/en/latest/" TargetMode="External"/><Relationship Id="rId12" Type="http://schemas.openxmlformats.org/officeDocument/2006/relationships/image" Target="../media/image8.svg"/><Relationship Id="rId2" Type="http://schemas.openxmlformats.org/officeDocument/2006/relationships/image" Target="../media/image1.jpe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11" Type="http://schemas.openxmlformats.org/officeDocument/2006/relationships/hyperlink" Target="https://pepy.tech/projects/pyetsimul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pypi.org/project/pyetsimul" TargetMode="External"/><Relationship Id="rId10" Type="http://schemas.openxmlformats.org/officeDocument/2006/relationships/image" Target="../media/image7.svg"/><Relationship Id="rId4" Type="http://schemas.openxmlformats.org/officeDocument/2006/relationships/image" Target="../media/image3.jpeg"/><Relationship Id="rId9" Type="http://schemas.openxmlformats.org/officeDocument/2006/relationships/hyperlink" Target="https://dl.acm.org/doi/10.1145/3806023" TargetMode="External"/><Relationship Id="rId1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9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h-salari.ir/news/ETRA2026" TargetMode="External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46F447-0D3B-504D-8DEC-C40D5776C40E}"/>
              </a:ext>
            </a:extLst>
          </p:cNvPr>
          <p:cNvSpPr txBox="1"/>
          <p:nvPr/>
        </p:nvSpPr>
        <p:spPr>
          <a:xfrm>
            <a:off x="1016000" y="935335"/>
            <a:ext cx="10160000" cy="92333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5400" b="1">
                <a:solidFill>
                  <a:srgbClr val="1A3D40"/>
                </a:solidFill>
                <a:latin typeface="Source Sans Pro"/>
                <a:ea typeface="Source Sans Pro"/>
              </a:rPr>
              <a:t>PyEtSimul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69848-6FE8-4A4D-9E4E-2620C644ED5A}"/>
              </a:ext>
            </a:extLst>
          </p:cNvPr>
          <p:cNvSpPr txBox="1"/>
          <p:nvPr/>
        </p:nvSpPr>
        <p:spPr>
          <a:xfrm>
            <a:off x="1651000" y="1822723"/>
            <a:ext cx="889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200" i="1">
                <a:solidFill>
                  <a:srgbClr val="1A3D40"/>
                </a:solidFill>
                <a:latin typeface="Source Sans Pro"/>
                <a:ea typeface="Source Sans Pro"/>
              </a:rPr>
              <a:t>An Open-Source Python Framework for Eye-Tracking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BC20A-DDF3-154B-8FC7-90EE39352D83}"/>
              </a:ext>
            </a:extLst>
          </p:cNvPr>
          <p:cNvSpPr txBox="1"/>
          <p:nvPr/>
        </p:nvSpPr>
        <p:spPr>
          <a:xfrm>
            <a:off x="638175" y="3232150"/>
            <a:ext cx="1091565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>
                <a:solidFill>
                  <a:srgbClr val="5E8A85"/>
                </a:solidFill>
                <a:latin typeface="Source Sans Pro"/>
                <a:ea typeface="Source Sans Pro"/>
              </a:rPr>
              <a:t>Mohammadhossein Salari¹   ·   Diederick C. Niehorster²   ·   Dan Witzner Hansen³   ·   Roman Bednarik¹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E6D9A-E482-C640-A5E6-1E7C1C52E0C9}"/>
              </a:ext>
            </a:extLst>
          </p:cNvPr>
          <p:cNvSpPr txBox="1"/>
          <p:nvPr/>
        </p:nvSpPr>
        <p:spPr>
          <a:xfrm>
            <a:off x="2251107" y="4191457"/>
            <a:ext cx="20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3D40"/>
                </a:solidFill>
                <a:latin typeface="Source Sans Pro"/>
                <a:ea typeface="Source Sans Pro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9023A-BA93-C442-93CA-4E81388F8D7E}"/>
              </a:ext>
            </a:extLst>
          </p:cNvPr>
          <p:cNvSpPr txBox="1"/>
          <p:nvPr/>
        </p:nvSpPr>
        <p:spPr>
          <a:xfrm>
            <a:off x="5029315" y="4191457"/>
            <a:ext cx="20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3D40"/>
                </a:solidFill>
                <a:latin typeface="Source Sans Pro"/>
                <a:ea typeface="Source Sans Pro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D9EB6-AACA-4A46-A7D3-E80704E81C95}"/>
              </a:ext>
            </a:extLst>
          </p:cNvPr>
          <p:cNvSpPr txBox="1"/>
          <p:nvPr/>
        </p:nvSpPr>
        <p:spPr>
          <a:xfrm>
            <a:off x="7683500" y="4191457"/>
            <a:ext cx="20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3D40"/>
                </a:solidFill>
                <a:latin typeface="Source Sans Pro"/>
                <a:ea typeface="Source Sans Pro"/>
              </a:rPr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F9E082-6086-118E-82C9-2A275FF8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469" y="3938372"/>
            <a:ext cx="2293731" cy="760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E461DF-1F2D-8144-9AE7-2A200DB3F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3873957"/>
            <a:ext cx="17780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033050-7BA1-6B0A-2A54-7D705A726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001" y="4145311"/>
            <a:ext cx="3148110" cy="3462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43EEFC-D41C-E16A-4244-A93A8ED5A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283" y="5599678"/>
            <a:ext cx="1229434" cy="6459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7E9FC8-FEDA-44C6-0195-C3C919575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217" y="5675337"/>
            <a:ext cx="2286000" cy="508000"/>
          </a:xfrm>
          <a:prstGeom prst="rect">
            <a:avLst/>
          </a:prstGeom>
        </p:spPr>
      </p:pic>
      <p:pic>
        <p:nvPicPr>
          <p:cNvPr id="3" name="Graphic 2">
            <a:hlinkClick r:id="rId7"/>
            <a:extLst>
              <a:ext uri="{FF2B5EF4-FFF2-40B4-BE49-F238E27FC236}">
                <a16:creationId xmlns:a16="http://schemas.microsoft.com/office/drawing/2014/main" id="{ED4B2505-049E-2EE8-94A6-8C2A7285C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8750" y="2527300"/>
            <a:ext cx="812800" cy="190500"/>
          </a:xfrm>
          <a:prstGeom prst="rect">
            <a:avLst/>
          </a:prstGeom>
        </p:spPr>
      </p:pic>
      <p:pic>
        <p:nvPicPr>
          <p:cNvPr id="11" name="Graphic 10">
            <a:hlinkClick r:id="rId9"/>
            <a:extLst>
              <a:ext uri="{FF2B5EF4-FFF2-40B4-BE49-F238E27FC236}">
                <a16:creationId xmlns:a16="http://schemas.microsoft.com/office/drawing/2014/main" id="{DDE5B40C-AE2C-0BF6-8AF4-A3670CE6E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9350" y="2527300"/>
            <a:ext cx="1333500" cy="190500"/>
          </a:xfrm>
          <a:prstGeom prst="rect">
            <a:avLst/>
          </a:prstGeom>
        </p:spPr>
      </p:pic>
      <p:pic>
        <p:nvPicPr>
          <p:cNvPr id="18" name="Graphic 17">
            <a:hlinkClick r:id="rId11"/>
            <a:extLst>
              <a:ext uri="{FF2B5EF4-FFF2-40B4-BE49-F238E27FC236}">
                <a16:creationId xmlns:a16="http://schemas.microsoft.com/office/drawing/2014/main" id="{3D321718-6CA5-C008-DF3A-A3F997FCC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73550" y="2527300"/>
            <a:ext cx="876300" cy="190500"/>
          </a:xfrm>
          <a:prstGeom prst="rect">
            <a:avLst/>
          </a:prstGeom>
        </p:spPr>
      </p:pic>
      <p:pic>
        <p:nvPicPr>
          <p:cNvPr id="20" name="Graphic 19">
            <a:hlinkClick r:id="rId13"/>
            <a:extLst>
              <a:ext uri="{FF2B5EF4-FFF2-40B4-BE49-F238E27FC236}">
                <a16:creationId xmlns:a16="http://schemas.microsoft.com/office/drawing/2014/main" id="{2CC5078B-F702-9BE3-A134-A3C03FFFA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27650" y="2527300"/>
            <a:ext cx="1003300" cy="190500"/>
          </a:xfrm>
          <a:prstGeom prst="rect">
            <a:avLst/>
          </a:prstGeom>
        </p:spPr>
      </p:pic>
      <p:pic>
        <p:nvPicPr>
          <p:cNvPr id="22" name="Graphic 21">
            <a:hlinkClick r:id="rId15"/>
            <a:extLst>
              <a:ext uri="{FF2B5EF4-FFF2-40B4-BE49-F238E27FC236}">
                <a16:creationId xmlns:a16="http://schemas.microsoft.com/office/drawing/2014/main" id="{B61075A4-119C-1D03-734D-466E2CE9B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59150" y="2527300"/>
            <a:ext cx="736600" cy="190500"/>
          </a:xfrm>
          <a:prstGeom prst="rect">
            <a:avLst/>
          </a:prstGeom>
        </p:spPr>
      </p:pic>
      <p:sp>
        <p:nvSpPr>
          <p:cNvPr id="17" name="FundCredit">
            <a:extLst>
              <a:ext uri="{FF2B5EF4-FFF2-40B4-BE49-F238E27FC236}">
                <a16:creationId xmlns:a16="http://schemas.microsoft.com/office/drawing/2014/main" id="{6744F2CB-4F38-826D-A75A-A6135BD5428A}"/>
              </a:ext>
            </a:extLst>
          </p:cNvPr>
          <p:cNvSpPr txBox="1"/>
          <p:nvPr/>
        </p:nvSpPr>
        <p:spPr>
          <a:xfrm>
            <a:off x="1651000" y="6310067"/>
            <a:ext cx="8890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900" i="1">
                <a:solidFill>
                  <a:srgbClr val="C9B891"/>
                </a:solidFill>
                <a:latin typeface="Source Sans Pro"/>
                <a:ea typeface="Source Sans Pro"/>
              </a:rPr>
              <a:t>Funded by the EU Horizon Europe programme, grant number 101072410 Eyes4ICU project.</a:t>
            </a:r>
          </a:p>
        </p:txBody>
      </p:sp>
    </p:spTree>
    <p:extLst>
      <p:ext uri="{BB962C8B-B14F-4D97-AF65-F5344CB8AC3E}">
        <p14:creationId xmlns:p14="http://schemas.microsoft.com/office/powerpoint/2010/main" val="339390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DAA8-33F1-938C-0A65-3F3B33C0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>
            <a:normAutofit/>
          </a:bodyPr>
          <a:lstStyle/>
          <a:p>
            <a:pPr algn="ctr"/>
            <a:r>
              <a:rPr lang="en-US" sz="2800" b="1"/>
              <a:t>Video-based eye tracking: from eye images to gaze data</a:t>
            </a:r>
          </a:p>
        </p:txBody>
      </p:sp>
      <p:sp>
        <p:nvSpPr>
          <p:cNvPr id="5" name="credit_note">
            <a:extLst>
              <a:ext uri="{FF2B5EF4-FFF2-40B4-BE49-F238E27FC236}">
                <a16:creationId xmlns:a16="http://schemas.microsoft.com/office/drawing/2014/main" id="{9720814A-4D36-2D48-A910-3E927E90229A}"/>
              </a:ext>
            </a:extLst>
          </p:cNvPr>
          <p:cNvSpPr txBox="1"/>
          <p:nvPr/>
        </p:nvSpPr>
        <p:spPr>
          <a:xfrm>
            <a:off x="0" y="6488925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i="1">
                <a:solidFill>
                  <a:srgbClr val="C9B891"/>
                </a:solidFill>
              </a:rPr>
              <a:t>The images on this slide were generated using ChatGPT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AE72D-8E80-C233-D52F-3107F33C42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591"/>
          <a:stretch>
            <a:fillRect/>
          </a:stretch>
        </p:blipFill>
        <p:spPr>
          <a:xfrm>
            <a:off x="9922951" y="3104683"/>
            <a:ext cx="1328299" cy="15221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F25C51-837A-D0C7-8653-7B72BAAE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222"/>
          <a:stretch>
            <a:fillRect/>
          </a:stretch>
        </p:blipFill>
        <p:spPr>
          <a:xfrm>
            <a:off x="652729" y="3103888"/>
            <a:ext cx="2058274" cy="15221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C8D703-2022-A83D-0135-BFB5A37459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75" t="32397" r="64443" b="37210"/>
          <a:stretch>
            <a:fillRect/>
          </a:stretch>
        </p:blipFill>
        <p:spPr>
          <a:xfrm>
            <a:off x="3042556" y="3305183"/>
            <a:ext cx="985357" cy="79975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CE6D08-C431-5629-1750-872F41E914B8}"/>
              </a:ext>
            </a:extLst>
          </p:cNvPr>
          <p:cNvCxnSpPr>
            <a:cxnSpLocks/>
          </p:cNvCxnSpPr>
          <p:nvPr/>
        </p:nvCxnSpPr>
        <p:spPr>
          <a:xfrm>
            <a:off x="2819529" y="3777132"/>
            <a:ext cx="234373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125047-58F8-8B3B-9537-B515F1D1827C}"/>
              </a:ext>
            </a:extLst>
          </p:cNvPr>
          <p:cNvGrpSpPr/>
          <p:nvPr/>
        </p:nvGrpSpPr>
        <p:grpSpPr>
          <a:xfrm>
            <a:off x="3535234" y="2069383"/>
            <a:ext cx="6314980" cy="1565557"/>
            <a:chOff x="3535231" y="1507305"/>
            <a:chExt cx="6314980" cy="156555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227FF9C-5BB0-F979-71E6-ECA21275B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256" r="34523"/>
            <a:stretch>
              <a:fillRect/>
            </a:stretch>
          </p:blipFill>
          <p:spPr>
            <a:xfrm>
              <a:off x="4016007" y="1507305"/>
              <a:ext cx="2696520" cy="1522141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74BE5BF-E7A3-EF6D-1EBD-CB6DE84F0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599" r="16312"/>
            <a:stretch>
              <a:fillRect/>
            </a:stretch>
          </p:blipFill>
          <p:spPr>
            <a:xfrm>
              <a:off x="7092865" y="1550721"/>
              <a:ext cx="1494711" cy="1522141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CD26123-FCEB-DF27-4325-5B8C1474EAD9}"/>
                </a:ext>
              </a:extLst>
            </p:cNvPr>
            <p:cNvCxnSpPr>
              <a:cxnSpLocks/>
            </p:cNvCxnSpPr>
            <p:nvPr/>
          </p:nvCxnSpPr>
          <p:spPr>
            <a:xfrm>
              <a:off x="6712527" y="2262288"/>
              <a:ext cx="234373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20D8E1D3-97CC-FB91-3F6C-87202F4DF6DF}"/>
                </a:ext>
              </a:extLst>
            </p:cNvPr>
            <p:cNvCxnSpPr>
              <a:cxnSpLocks/>
              <a:stCxn id="21" idx="0"/>
              <a:endCxn id="22" idx="1"/>
            </p:cNvCxnSpPr>
            <p:nvPr/>
          </p:nvCxnSpPr>
          <p:spPr>
            <a:xfrm rot="5400000" flipH="1" flipV="1">
              <a:off x="3542609" y="2260999"/>
              <a:ext cx="466020" cy="480775"/>
            </a:xfrm>
            <a:prstGeom prst="bentConnector2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F9FB55EE-EF2B-9BDF-AEA1-C343539F27EB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8587576" y="2311792"/>
              <a:ext cx="1262635" cy="63429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BF8430-C1AA-B01D-D0F8-B99706036929}"/>
              </a:ext>
            </a:extLst>
          </p:cNvPr>
          <p:cNvGrpSpPr/>
          <p:nvPr/>
        </p:nvGrpSpPr>
        <p:grpSpPr>
          <a:xfrm>
            <a:off x="3550272" y="3747722"/>
            <a:ext cx="6299942" cy="1522141"/>
            <a:chOff x="3550272" y="3185644"/>
            <a:chExt cx="6299942" cy="15221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272143-D438-8FF5-5D9A-A7D1FE3A0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1643" r="35522"/>
            <a:stretch>
              <a:fillRect/>
            </a:stretch>
          </p:blipFill>
          <p:spPr>
            <a:xfrm>
              <a:off x="4144260" y="3185644"/>
              <a:ext cx="2261997" cy="152214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2885BBE-C378-7BFB-4F9B-9BD47207E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7625" r="16189"/>
            <a:stretch>
              <a:fillRect/>
            </a:stretch>
          </p:blipFill>
          <p:spPr>
            <a:xfrm>
              <a:off x="6855969" y="3185644"/>
              <a:ext cx="1603422" cy="1522141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E317EDF-F81A-1262-0C5E-E03CE5B336E5}"/>
                </a:ext>
              </a:extLst>
            </p:cNvPr>
            <p:cNvCxnSpPr>
              <a:cxnSpLocks/>
            </p:cNvCxnSpPr>
            <p:nvPr/>
          </p:nvCxnSpPr>
          <p:spPr>
            <a:xfrm>
              <a:off x="6595340" y="3962078"/>
              <a:ext cx="234373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23C48A11-8A78-8AF2-5057-4414A8ABAB1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6335" y="3485627"/>
              <a:ext cx="518248" cy="550374"/>
            </a:xfrm>
            <a:prstGeom prst="bentConnector2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EA22A8C4-EFCF-862E-AB9E-64EACB23D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7575" y="3302880"/>
              <a:ext cx="1262639" cy="67128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14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7CAD-0B53-FCDD-E02E-4DC2F26F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>
            <a:normAutofit/>
          </a:bodyPr>
          <a:lstStyle/>
          <a:p>
            <a:r>
              <a:rPr lang="en-US"/>
              <a:t>PyEtSimul: a feature-based simulator</a:t>
            </a:r>
            <a:endParaRPr lang="en-US" sz="2800" b="1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21976BA-6DFA-DAE0-018D-6CA01BDF1DDC}"/>
              </a:ext>
            </a:extLst>
          </p:cNvPr>
          <p:cNvSpPr>
            <a:spLocks/>
          </p:cNvSpPr>
          <p:nvPr/>
        </p:nvSpPr>
        <p:spPr>
          <a:xfrm>
            <a:off x="6096000" y="949230"/>
            <a:ext cx="2862072" cy="3200400"/>
          </a:xfrm>
          <a:custGeom>
            <a:avLst/>
            <a:gdLst>
              <a:gd name="csX0" fmla="*/ 0 w 1945409"/>
              <a:gd name="csY0" fmla="*/ 846253 h 1692505"/>
              <a:gd name="csX1" fmla="*/ 423126 w 1945409"/>
              <a:gd name="csY1" fmla="*/ 0 h 1692505"/>
              <a:gd name="csX2" fmla="*/ 1522283 w 1945409"/>
              <a:gd name="csY2" fmla="*/ 0 h 1692505"/>
              <a:gd name="csX3" fmla="*/ 1945409 w 1945409"/>
              <a:gd name="csY3" fmla="*/ 846253 h 1692505"/>
              <a:gd name="csX4" fmla="*/ 1522283 w 1945409"/>
              <a:gd name="csY4" fmla="*/ 1692505 h 1692505"/>
              <a:gd name="csX5" fmla="*/ 423126 w 1945409"/>
              <a:gd name="csY5" fmla="*/ 1692505 h 1692505"/>
              <a:gd name="csX6" fmla="*/ 0 w 1945409"/>
              <a:gd name="csY6" fmla="*/ 846253 h 1692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45409" h="1692505">
                <a:moveTo>
                  <a:pt x="972704" y="0"/>
                </a:moveTo>
                <a:lnTo>
                  <a:pt x="1945408" y="368119"/>
                </a:lnTo>
                <a:lnTo>
                  <a:pt x="1945408" y="1324386"/>
                </a:lnTo>
                <a:lnTo>
                  <a:pt x="972704" y="1692505"/>
                </a:lnTo>
                <a:lnTo>
                  <a:pt x="1" y="1324386"/>
                </a:lnTo>
                <a:lnTo>
                  <a:pt x="1" y="368119"/>
                </a:lnTo>
                <a:lnTo>
                  <a:pt x="97270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659" tIns="345071" rIns="305659" bIns="345068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/>
              <a:t>Models the eye's geometry explicitly at the feature level — exact pupil and corneal-reflection positions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5A4CF-C18D-15ED-F0F3-92288CF18B1F}"/>
              </a:ext>
            </a:extLst>
          </p:cNvPr>
          <p:cNvSpPr/>
          <p:nvPr/>
        </p:nvSpPr>
        <p:spPr>
          <a:xfrm>
            <a:off x="9643386" y="1486292"/>
            <a:ext cx="2171076" cy="11672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C75A4B1-1155-9ADA-B598-FFD2DD252A34}"/>
              </a:ext>
            </a:extLst>
          </p:cNvPr>
          <p:cNvSpPr>
            <a:spLocks noChangeAspect="1"/>
          </p:cNvSpPr>
          <p:nvPr/>
        </p:nvSpPr>
        <p:spPr>
          <a:xfrm>
            <a:off x="4519069" y="3758903"/>
            <a:ext cx="2386583" cy="2743200"/>
          </a:xfrm>
          <a:custGeom>
            <a:avLst/>
            <a:gdLst>
              <a:gd name="csX0" fmla="*/ 0 w 1945409"/>
              <a:gd name="csY0" fmla="*/ 846253 h 1692505"/>
              <a:gd name="csX1" fmla="*/ 423126 w 1945409"/>
              <a:gd name="csY1" fmla="*/ 0 h 1692505"/>
              <a:gd name="csX2" fmla="*/ 1522283 w 1945409"/>
              <a:gd name="csY2" fmla="*/ 0 h 1692505"/>
              <a:gd name="csX3" fmla="*/ 1945409 w 1945409"/>
              <a:gd name="csY3" fmla="*/ 846253 h 1692505"/>
              <a:gd name="csX4" fmla="*/ 1522283 w 1945409"/>
              <a:gd name="csY4" fmla="*/ 1692505 h 1692505"/>
              <a:gd name="csX5" fmla="*/ 423126 w 1945409"/>
              <a:gd name="csY5" fmla="*/ 1692505 h 1692505"/>
              <a:gd name="csX6" fmla="*/ 0 w 1945409"/>
              <a:gd name="csY6" fmla="*/ 846253 h 1692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45409" h="1692505">
                <a:moveTo>
                  <a:pt x="972704" y="0"/>
                </a:moveTo>
                <a:lnTo>
                  <a:pt x="1945408" y="368119"/>
                </a:lnTo>
                <a:lnTo>
                  <a:pt x="1945408" y="1324386"/>
                </a:lnTo>
                <a:lnTo>
                  <a:pt x="972704" y="1692505"/>
                </a:lnTo>
                <a:lnTo>
                  <a:pt x="1" y="1324386"/>
                </a:lnTo>
                <a:lnTo>
                  <a:pt x="1" y="368119"/>
                </a:lnTo>
                <a:lnTo>
                  <a:pt x="972704" y="0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3749" tIns="303161" rIns="263749" bIns="303158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/>
              <a:t>Every eye and setup parameter can be set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03FF9BA-85C4-38A5-17B0-34EEF18F8A66}"/>
              </a:ext>
            </a:extLst>
          </p:cNvPr>
          <p:cNvSpPr/>
          <p:nvPr/>
        </p:nvSpPr>
        <p:spPr>
          <a:xfrm>
            <a:off x="8761326" y="3206987"/>
            <a:ext cx="2862072" cy="3200400"/>
          </a:xfrm>
          <a:custGeom>
            <a:avLst/>
            <a:gdLst>
              <a:gd name="csX0" fmla="*/ 0 w 1945409"/>
              <a:gd name="csY0" fmla="*/ 846253 h 1692505"/>
              <a:gd name="csX1" fmla="*/ 423126 w 1945409"/>
              <a:gd name="csY1" fmla="*/ 0 h 1692505"/>
              <a:gd name="csX2" fmla="*/ 1522283 w 1945409"/>
              <a:gd name="csY2" fmla="*/ 0 h 1692505"/>
              <a:gd name="csX3" fmla="*/ 1945409 w 1945409"/>
              <a:gd name="csY3" fmla="*/ 846253 h 1692505"/>
              <a:gd name="csX4" fmla="*/ 1522283 w 1945409"/>
              <a:gd name="csY4" fmla="*/ 1692505 h 1692505"/>
              <a:gd name="csX5" fmla="*/ 423126 w 1945409"/>
              <a:gd name="csY5" fmla="*/ 1692505 h 1692505"/>
              <a:gd name="csX6" fmla="*/ 0 w 1945409"/>
              <a:gd name="csY6" fmla="*/ 846253 h 1692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45409" h="1692505">
                <a:moveTo>
                  <a:pt x="972704" y="0"/>
                </a:moveTo>
                <a:lnTo>
                  <a:pt x="1945408" y="368119"/>
                </a:lnTo>
                <a:lnTo>
                  <a:pt x="1945408" y="1324386"/>
                </a:lnTo>
                <a:lnTo>
                  <a:pt x="972704" y="1692505"/>
                </a:lnTo>
                <a:lnTo>
                  <a:pt x="1" y="1324386"/>
                </a:lnTo>
                <a:lnTo>
                  <a:pt x="1" y="368119"/>
                </a:lnTo>
                <a:lnTo>
                  <a:pt x="97270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5659" tIns="345071" rIns="305659" bIns="345068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/>
              <a:t>It opens the black box of eye tracking : isolate one factor, change it, and watch its effect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86B53-A913-5376-CC52-FF569C43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62" t="20262" r="14166" b="22738"/>
          <a:stretch>
            <a:fillRect/>
          </a:stretch>
        </p:blipFill>
        <p:spPr>
          <a:xfrm>
            <a:off x="377538" y="1486292"/>
            <a:ext cx="3868330" cy="34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2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3EF-8159-E517-A8FD-37156B02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>
            <a:normAutofit/>
          </a:bodyPr>
          <a:lstStyle/>
          <a:p>
            <a:pPr algn="ctr"/>
            <a:r>
              <a:rPr lang="en-US" sz="2800" b="1"/>
              <a:t>The eye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3722A-484A-C747-9785-0E4F1C046E00}"/>
              </a:ext>
            </a:extLst>
          </p:cNvPr>
          <p:cNvSpPr txBox="1"/>
          <p:nvPr/>
        </p:nvSpPr>
        <p:spPr>
          <a:xfrm>
            <a:off x="457200" y="611559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>
                <a:solidFill>
                  <a:srgbClr val="5E8A85"/>
                </a:solidFill>
                <a:latin typeface="Source Sans Pro"/>
                <a:ea typeface="Source Sans Pro"/>
              </a:rPr>
              <a:t>Le Grand two-sphere eye model</a:t>
            </a:r>
            <a:r>
              <a:rPr lang="en-US" sz="1200">
                <a:solidFill>
                  <a:srgbClr val="5E8A85"/>
                </a:solidFill>
                <a:latin typeface="Source Sans Pro"/>
                <a:ea typeface="Source Sans Pro"/>
              </a:rPr>
              <a:t> (Le Grand 1957; Le Grand &amp; El Hage 2013)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0E3FE-0BC7-613A-579B-9E03DBBEA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4" y="1635398"/>
            <a:ext cx="10976672" cy="342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14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2132-E5E7-066C-1A76-8A6DA9B4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36D2-6E75-89E9-7EEF-37ABBE3D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>
            <a:normAutofit/>
          </a:bodyPr>
          <a:lstStyle/>
          <a:p>
            <a:pPr algn="ctr"/>
            <a:r>
              <a:rPr lang="en-US" sz="2800" b="1">
                <a:solidFill>
                  <a:srgbClr val="1A3D40"/>
                </a:solidFill>
              </a:rPr>
              <a:t>Corneal reflection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78B73-CA69-DE6E-3CE6-03DB26C7CBE7}"/>
              </a:ext>
            </a:extLst>
          </p:cNvPr>
          <p:cNvSpPr txBox="1"/>
          <p:nvPr/>
        </p:nvSpPr>
        <p:spPr>
          <a:xfrm>
            <a:off x="9465310" y="641531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C9B891"/>
                </a:solidFill>
                <a:latin typeface="Source Sans Pro"/>
                <a:ea typeface="Source Sans Pro"/>
              </a:rPr>
              <a:t>The </a:t>
            </a:r>
            <a:r>
              <a:rPr lang="en-US" sz="900" i="1" err="1">
                <a:solidFill>
                  <a:srgbClr val="C9B891"/>
                </a:solidFill>
                <a:latin typeface="Source Sans Pro"/>
                <a:ea typeface="Source Sans Pro"/>
              </a:rPr>
              <a:t>imageson</a:t>
            </a:r>
            <a:r>
              <a:rPr lang="en-US" sz="900" i="1">
                <a:solidFill>
                  <a:srgbClr val="C9B891"/>
                </a:solidFill>
                <a:latin typeface="Source Sans Pro"/>
                <a:ea typeface="Source Sans Pro"/>
              </a:rPr>
              <a:t> this slide were generated using ChatGPT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FA95E-5803-8F5A-B68E-0B662212A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10" y="2031907"/>
            <a:ext cx="2497935" cy="29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EC2C0A-CADC-5C60-DD92-E57D2E1BA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619" y="1954916"/>
            <a:ext cx="70612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1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EC26-7922-1B71-FDDC-1F230CA0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>
            <a:normAutofit/>
          </a:bodyPr>
          <a:lstStyle/>
          <a:p>
            <a:pPr algn="ctr"/>
            <a:r>
              <a:rPr lang="en-US" sz="2800" b="1">
                <a:solidFill>
                  <a:srgbClr val="1A3D40"/>
                </a:solidFill>
              </a:rPr>
              <a:t>Corneal refraction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29570-517A-2942-BD1B-682B89724064}"/>
              </a:ext>
            </a:extLst>
          </p:cNvPr>
          <p:cNvSpPr txBox="1"/>
          <p:nvPr/>
        </p:nvSpPr>
        <p:spPr>
          <a:xfrm>
            <a:off x="9465310" y="641531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C9B891"/>
                </a:solidFill>
                <a:latin typeface="Source Sans Pro"/>
                <a:ea typeface="Source Sans Pro"/>
              </a:rPr>
              <a:t>The image on this slide were generated using ChatGPT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3A013-C0BB-EAC7-935F-38FCF78B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0" y="1963470"/>
            <a:ext cx="2590800" cy="303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90FE0-2E36-4051-96DF-5D840B83A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666" y="2578628"/>
            <a:ext cx="6667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9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6DA0-CC9F-04DF-1E9C-ECF79052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</a:rPr>
              <a:t>Conic cornea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07035-570B-45D3-1A9F-87F7E92D9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50" y="1801400"/>
            <a:ext cx="7075067" cy="3931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8FE61-6651-BB7C-470C-BE610C183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3894" y="1200110"/>
            <a:ext cx="4825203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1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7D65-59C3-A7BB-DAF0-F3F66773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</a:rPr>
              <a:t>Spherical cornea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CECAB-1C9F-4764-9E1B-3DA9905FA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41" y="2205553"/>
            <a:ext cx="7200900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D94A1-9A55-5D36-E2B4-6FD00A31E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4065" y="1200110"/>
            <a:ext cx="48252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33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B433-92FC-1E96-4EA7-F215739B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3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</a:rPr>
              <a:t>Pupil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D0ACA-A214-8D01-17DB-A9302213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791" y="1830511"/>
            <a:ext cx="7406640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6AF9D-C839-E050-F71B-84345855B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0511"/>
            <a:ext cx="4174574" cy="41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42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FB86-1341-603C-437F-9681DBB6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/>
              <a:t>PyEtSimul: built on </a:t>
            </a:r>
            <a:r>
              <a:rPr lang="en-US" sz="2800" b="1" err="1"/>
              <a:t>et_simul</a:t>
            </a:r>
            <a:r>
              <a:rPr lang="en-US" sz="2800" b="1"/>
              <a:t> (Böhme et al. 2008), substantially extended</a:t>
            </a:r>
          </a:p>
        </p:txBody>
      </p:sp>
      <p:graphicFrame>
        <p:nvGraphicFramePr>
          <p:cNvPr id="5" name="CompareTable">
            <a:extLst>
              <a:ext uri="{FF2B5EF4-FFF2-40B4-BE49-F238E27FC236}">
                <a16:creationId xmlns:a16="http://schemas.microsoft.com/office/drawing/2014/main" id="{940CC2CE-3772-5F48-98EA-9E934E8B8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24415"/>
              </p:ext>
            </p:extLst>
          </p:nvPr>
        </p:nvGraphicFramePr>
        <p:xfrm>
          <a:off x="1642481" y="954310"/>
          <a:ext cx="8907039" cy="516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889">
                  <a:extLst>
                    <a:ext uri="{9D8B030D-6E8A-4147-A177-3AD203B41FA5}">
                      <a16:colId xmlns:a16="http://schemas.microsoft.com/office/drawing/2014/main" val="2572763942"/>
                    </a:ext>
                  </a:extLst>
                </a:gridCol>
                <a:gridCol w="2238430">
                  <a:extLst>
                    <a:ext uri="{9D8B030D-6E8A-4147-A177-3AD203B41FA5}">
                      <a16:colId xmlns:a16="http://schemas.microsoft.com/office/drawing/2014/main" val="2818338680"/>
                    </a:ext>
                  </a:extLst>
                </a:gridCol>
                <a:gridCol w="1521720">
                  <a:extLst>
                    <a:ext uri="{9D8B030D-6E8A-4147-A177-3AD203B41FA5}">
                      <a16:colId xmlns:a16="http://schemas.microsoft.com/office/drawing/2014/main" val="3592929167"/>
                    </a:ext>
                  </a:extLst>
                </a:gridCol>
              </a:tblGrid>
              <a:tr h="482391">
                <a:tc>
                  <a:txBody>
                    <a:bodyPr/>
                    <a:lstStyle/>
                    <a:p>
                      <a:pPr algn="ctr"/>
                      <a:endParaRPr lang="en-US" sz="2400" b="1">
                        <a:solidFill>
                          <a:srgbClr val="FFFFFF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C9B89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err="1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et</a:t>
                      </a:r>
                      <a:r>
                        <a:rPr lang="en-US" sz="2400" b="1" err="1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_</a:t>
                      </a:r>
                      <a:r>
                        <a:rPr lang="en-US" sz="2000" err="1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simul</a:t>
                      </a:r>
                      <a:endParaRPr lang="en-US" sz="2000">
                        <a:solidFill>
                          <a:schemeClr val="tx1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C9B89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PyEtSimul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C9B89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628832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Spherical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cornea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C9B8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C9B8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C9B8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230646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Pinhole 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339157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Pupil + corneal-reflection projection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855417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Conic cornea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831056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Non-circular pupil + decentration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382439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Eyelid occlusion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636528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Camera lens distortion +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438745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Multiple cameras + import real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21792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Systematic parameter sweeps +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C0392B"/>
                          </a:solidFill>
                          <a:latin typeface="Source Sans Pro"/>
                          <a:ea typeface="Source Sans Pro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685337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Built-in gaze estimation algorithms*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Source Sans Pro"/>
                          <a:ea typeface="Source Sans Pro"/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427719"/>
                  </a:ext>
                </a:extLst>
              </a:tr>
              <a:tr h="42563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1A3D40"/>
                          </a:solidFill>
                          <a:latin typeface="Source Sans Pro"/>
                          <a:ea typeface="Source Sans Pro"/>
                        </a:rPr>
                        <a:t>License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E8A85"/>
                          </a:solidFill>
                          <a:latin typeface="Source Sans Pro"/>
                          <a:ea typeface="Source Sans Pro"/>
                        </a:rPr>
                        <a:t>MATLAB (paid)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E8A85"/>
                          </a:solidFill>
                          <a:latin typeface="Source Sans Pro"/>
                          <a:ea typeface="Source Sans Pro"/>
                        </a:rPr>
                        <a:t>Python (free)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D8C5"/>
                      </a:solidFill>
                      <a:prstDash val="solid"/>
                    </a:lnT>
                    <a:lnB w="12700" cap="flat" cmpd="sng" algn="ctr">
                      <a:solidFill>
                        <a:srgbClr val="E0D8C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15249"/>
                  </a:ext>
                </a:extLst>
              </a:tr>
            </a:tbl>
          </a:graphicData>
        </a:graphic>
      </p:graphicFrame>
      <p:sp>
        <p:nvSpPr>
          <p:cNvPr id="6" name="StepCaption">
            <a:extLst>
              <a:ext uri="{FF2B5EF4-FFF2-40B4-BE49-F238E27FC236}">
                <a16:creationId xmlns:a16="http://schemas.microsoft.com/office/drawing/2014/main" id="{0603D1ED-DEE1-0A4D-B5B5-B453454066D6}"/>
              </a:ext>
            </a:extLst>
          </p:cNvPr>
          <p:cNvSpPr txBox="1"/>
          <p:nvPr/>
        </p:nvSpPr>
        <p:spPr>
          <a:xfrm>
            <a:off x="457200" y="6426200"/>
            <a:ext cx="11277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E8A85"/>
                </a:solidFill>
              </a:rPr>
              <a:t>* both have gaze estimation algorithms, but different models — PyEtSimul ships 7 polynomial models + </a:t>
            </a:r>
            <a:r>
              <a:rPr lang="en-US" sz="1400" i="1" err="1">
                <a:solidFill>
                  <a:srgbClr val="5E8A85"/>
                </a:solidFill>
              </a:rPr>
              <a:t>homography</a:t>
            </a:r>
            <a:r>
              <a:rPr lang="en-US" sz="1400" i="1">
                <a:solidFill>
                  <a:srgbClr val="5E8A85"/>
                </a:solidFill>
              </a:rPr>
              <a:t> + easy registration of custom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CF48B-145C-C985-7B57-4D919C2EE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076" y="5809824"/>
            <a:ext cx="247147" cy="22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1711F2-7E58-319C-A9F7-DD760D5D7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0292" y="5820983"/>
            <a:ext cx="172721" cy="21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10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F313-A543-64BA-71C4-BF1E69B8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Setup for the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9AB53-DBDA-009A-C3ED-8279DA09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71"/>
          <a:stretch>
            <a:fillRect/>
          </a:stretch>
        </p:blipFill>
        <p:spPr>
          <a:xfrm>
            <a:off x="457200" y="1079078"/>
            <a:ext cx="4823460" cy="3514570"/>
          </a:xfrm>
          <a:prstGeom prst="rect">
            <a:avLst/>
          </a:prstGeom>
        </p:spPr>
      </p:pic>
      <p:sp>
        <p:nvSpPr>
          <p:cNvPr id="4" name="StepCaption">
            <a:extLst>
              <a:ext uri="{FF2B5EF4-FFF2-40B4-BE49-F238E27FC236}">
                <a16:creationId xmlns:a16="http://schemas.microsoft.com/office/drawing/2014/main" id="{D54064AB-E86E-C14E-93EE-8E358EE1BA95}"/>
              </a:ext>
            </a:extLst>
          </p:cNvPr>
          <p:cNvSpPr txBox="1"/>
          <p:nvPr/>
        </p:nvSpPr>
        <p:spPr>
          <a:xfrm>
            <a:off x="457200" y="4773745"/>
            <a:ext cx="5334000" cy="153888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Our </a:t>
            </a:r>
            <a:r>
              <a:rPr lang="en-US" sz="2000" b="1" err="1"/>
              <a:t>EyeLink</a:t>
            </a:r>
            <a:r>
              <a:rPr lang="en-US" sz="2000" b="1"/>
              <a:t> 1000 Plus setup at UEF / Lund</a:t>
            </a:r>
          </a:p>
          <a:p>
            <a:pPr algn="l"/>
            <a:endParaRPr lang="en-US" sz="1000" i="1">
              <a:solidFill>
                <a:srgbClr val="5E8A85"/>
              </a:solidFill>
              <a:latin typeface="Source Sans Pro"/>
              <a:ea typeface="Source Sans Pro"/>
            </a:endParaRP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5E8A85"/>
                </a:solidFill>
                <a:latin typeface="Source Sans Pro"/>
                <a:ea typeface="Source Sans Pro"/>
              </a:rPr>
              <a:t>eye-to-screen ~83.5 cm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5E8A85"/>
                </a:solidFill>
                <a:latin typeface="Source Sans Pro"/>
                <a:ea typeface="Source Sans Pro"/>
              </a:rPr>
              <a:t>camera-to-eye ~47.6 cm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5E8A85"/>
                </a:solidFill>
                <a:latin typeface="Source Sans Pro"/>
                <a:ea typeface="Source Sans Pro"/>
              </a:rPr>
              <a:t>IR light ~19.5 cm beside the camera</a:t>
            </a:r>
          </a:p>
        </p:txBody>
      </p:sp>
      <p:sp>
        <p:nvSpPr>
          <p:cNvPr id="5" name="CreditNote">
            <a:extLst>
              <a:ext uri="{FF2B5EF4-FFF2-40B4-BE49-F238E27FC236}">
                <a16:creationId xmlns:a16="http://schemas.microsoft.com/office/drawing/2014/main" id="{A75633C4-0242-9E4A-A5EF-BA2F55D0EC0C}"/>
              </a:ext>
            </a:extLst>
          </p:cNvPr>
          <p:cNvSpPr txBox="1"/>
          <p:nvPr/>
        </p:nvSpPr>
        <p:spPr>
          <a:xfrm>
            <a:off x="9525000" y="6472077"/>
            <a:ext cx="5334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i="1" dirty="0">
                <a:solidFill>
                  <a:srgbClr val="C9B891"/>
                </a:solidFill>
                <a:latin typeface="Source Sans Pro"/>
                <a:ea typeface="Source Sans Pro"/>
              </a:rPr>
              <a:t>The image on this slide was generated using ChatGPT</a:t>
            </a:r>
          </a:p>
        </p:txBody>
      </p:sp>
      <p:sp>
        <p:nvSpPr>
          <p:cNvPr id="6" name="StampeModel">
            <a:extLst>
              <a:ext uri="{FF2B5EF4-FFF2-40B4-BE49-F238E27FC236}">
                <a16:creationId xmlns:a16="http://schemas.microsoft.com/office/drawing/2014/main" id="{8C12C6FF-576A-8B49-92FE-A9C5267879DB}"/>
              </a:ext>
            </a:extLst>
          </p:cNvPr>
          <p:cNvSpPr txBox="1"/>
          <p:nvPr/>
        </p:nvSpPr>
        <p:spPr>
          <a:xfrm>
            <a:off x="6612054" y="1255741"/>
            <a:ext cx="5479587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2000" b="1"/>
              <a:t>Stampe (1993) — cross-term-free 2nd-order polynomial + per-quadrant corner correction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51660E-2829-AC6C-62B4-2DCB197329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01" b="70759"/>
          <a:stretch>
            <a:fillRect/>
          </a:stretch>
        </p:blipFill>
        <p:spPr>
          <a:xfrm>
            <a:off x="6694141" y="2733023"/>
            <a:ext cx="5461000" cy="7597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8EBBA8-A42C-38DE-5A47-D55441789896}"/>
              </a:ext>
            </a:extLst>
          </p:cNvPr>
          <p:cNvSpPr txBox="1"/>
          <p:nvPr/>
        </p:nvSpPr>
        <p:spPr>
          <a:xfrm>
            <a:off x="6615463" y="2265058"/>
            <a:ext cx="743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① Polynomial (inner 5 pts, no </a:t>
            </a:r>
            <a:r>
              <a:rPr lang="en-US" err="1">
                <a:solidFill>
                  <a:srgbClr val="5E8A85"/>
                </a:solidFill>
                <a:latin typeface="Source Sans Pro"/>
                <a:ea typeface="Source Sans Pro"/>
              </a:rPr>
              <a:t>xy</a:t>
            </a:r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9E8CB-92C4-0402-FA90-AC4B38FFBAFF}"/>
              </a:ext>
            </a:extLst>
          </p:cNvPr>
          <p:cNvSpPr txBox="1"/>
          <p:nvPr/>
        </p:nvSpPr>
        <p:spPr>
          <a:xfrm>
            <a:off x="6615463" y="3837600"/>
            <a:ext cx="743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② Corner correction (outer 4 corners → restores </a:t>
            </a:r>
            <a:r>
              <a:rPr lang="en-US" err="1">
                <a:solidFill>
                  <a:srgbClr val="5E8A85"/>
                </a:solidFill>
                <a:latin typeface="Source Sans Pro"/>
                <a:ea typeface="Source Sans Pro"/>
              </a:rPr>
              <a:t>xy</a:t>
            </a:r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3A7D74-2B22-C28E-4F12-BB6E65E833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149" b="28614"/>
          <a:stretch>
            <a:fillRect/>
          </a:stretch>
        </p:blipFill>
        <p:spPr>
          <a:xfrm>
            <a:off x="6694141" y="4320995"/>
            <a:ext cx="5461000" cy="8710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8014CD-94EF-06E4-019A-D21E8A82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764"/>
          <a:stretch>
            <a:fillRect/>
          </a:stretch>
        </p:blipFill>
        <p:spPr>
          <a:xfrm>
            <a:off x="6694141" y="5410142"/>
            <a:ext cx="5461000" cy="87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96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6CC1-BA8D-EB28-DC30-A6DA4B0E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Demo: building a Stampe (1993) eye tracker</a:t>
            </a:r>
          </a:p>
        </p:txBody>
      </p:sp>
      <p:sp>
        <p:nvSpPr>
          <p:cNvPr id="3" name="TestLabel">
            <a:extLst>
              <a:ext uri="{FF2B5EF4-FFF2-40B4-BE49-F238E27FC236}">
                <a16:creationId xmlns:a16="http://schemas.microsoft.com/office/drawing/2014/main" id="{C6B06BE0-39FE-AE48-8E36-05F951A5F9E1}"/>
              </a:ext>
            </a:extLst>
          </p:cNvPr>
          <p:cNvSpPr txBox="1"/>
          <p:nvPr/>
        </p:nvSpPr>
        <p:spPr>
          <a:xfrm>
            <a:off x="457200" y="92891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① Define a setup, in a few lines of Python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32529F-5D85-D653-31E6-95EBFF3E55B9}"/>
              </a:ext>
            </a:extLst>
          </p:cNvPr>
          <p:cNvGrpSpPr/>
          <p:nvPr/>
        </p:nvGrpSpPr>
        <p:grpSpPr>
          <a:xfrm>
            <a:off x="266700" y="1308100"/>
            <a:ext cx="11607800" cy="5308600"/>
            <a:chOff x="266700" y="1395190"/>
            <a:chExt cx="11607800" cy="53086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FF9A24E-862B-75A7-C3DB-14089E1A9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" y="1395190"/>
              <a:ext cx="5143500" cy="53086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B37450-AEF1-BABF-9FFE-FBCFF1AC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6000" y="2220690"/>
              <a:ext cx="5778500" cy="4483100"/>
            </a:xfrm>
            <a:prstGeom prst="rect">
              <a:avLst/>
            </a:prstGeom>
          </p:spPr>
        </p:pic>
        <p:sp>
          <p:nvSpPr>
            <p:cNvPr id="12" name="StepCaption0">
              <a:extLst>
                <a:ext uri="{FF2B5EF4-FFF2-40B4-BE49-F238E27FC236}">
                  <a16:creationId xmlns:a16="http://schemas.microsoft.com/office/drawing/2014/main" id="{D0B6C2F9-95ED-564C-812E-A7236A5F3B16}"/>
                </a:ext>
              </a:extLst>
            </p:cNvPr>
            <p:cNvSpPr txBox="1"/>
            <p:nvPr/>
          </p:nvSpPr>
          <p:spPr>
            <a:xfrm>
              <a:off x="6184900" y="1661890"/>
              <a:ext cx="54610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Overflow="overflow" vert="horz" wrap="square" rtlCol="0" anchor="b" anchorCtr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5E8A85"/>
                  </a:solidFill>
                  <a:latin typeface="Source Sans Pro"/>
                  <a:ea typeface="Source Sans Pro"/>
                </a:rPr>
                <a:t>First, we need to import </a:t>
              </a:r>
              <a:r>
                <a:rPr lang="en-US" sz="1600" i="1" dirty="0" err="1">
                  <a:solidFill>
                    <a:srgbClr val="5E8A85"/>
                  </a:solidFill>
                  <a:latin typeface="Source Sans Pro"/>
                  <a:ea typeface="Source Sans Pro"/>
                </a:rPr>
                <a:t>pyetsimul</a:t>
              </a:r>
              <a:r>
                <a:rPr lang="en-US" sz="1600" i="1" dirty="0">
                  <a:solidFill>
                    <a:srgbClr val="5E8A85"/>
                  </a:solidFill>
                  <a:latin typeface="Source Sans Pro"/>
                  <a:ea typeface="Source Sans Pro"/>
                </a:rPr>
                <a:t>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149555-DBBF-10B0-0C24-BAA7398C972D}"/>
              </a:ext>
            </a:extLst>
          </p:cNvPr>
          <p:cNvGrpSpPr/>
          <p:nvPr/>
        </p:nvGrpSpPr>
        <p:grpSpPr>
          <a:xfrm>
            <a:off x="266700" y="1308100"/>
            <a:ext cx="11607800" cy="5308600"/>
            <a:chOff x="266700" y="1395190"/>
            <a:chExt cx="11607800" cy="53086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54E3D8-3CE6-D411-F84E-169B93529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" y="1395190"/>
              <a:ext cx="5143500" cy="53086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7E314A-626B-E876-CDF0-18BE7AC66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096000" y="2220690"/>
              <a:ext cx="5778500" cy="4483100"/>
            </a:xfrm>
            <a:prstGeom prst="rect">
              <a:avLst/>
            </a:prstGeom>
          </p:spPr>
        </p:pic>
        <p:sp>
          <p:nvSpPr>
            <p:cNvPr id="13" name="StepCaption1">
              <a:extLst>
                <a:ext uri="{FF2B5EF4-FFF2-40B4-BE49-F238E27FC236}">
                  <a16:creationId xmlns:a16="http://schemas.microsoft.com/office/drawing/2014/main" id="{DA036A4E-665B-DD4C-9C5F-596C369B5230}"/>
                </a:ext>
              </a:extLst>
            </p:cNvPr>
            <p:cNvSpPr txBox="1"/>
            <p:nvPr/>
          </p:nvSpPr>
          <p:spPr>
            <a:xfrm>
              <a:off x="6184900" y="1661890"/>
              <a:ext cx="54610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Overflow="overflow" vert="horz" wrap="square" rtlCol="0" anchor="b" anchorCtr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5E8A85"/>
                  </a:solidFill>
                  <a:latin typeface="Source Sans Pro"/>
                  <a:ea typeface="Source Sans Pro"/>
                </a:rPr>
                <a:t>Then we need some eyes to track. Let's add two: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2E3D41-EAB5-C271-5312-62699D695B5A}"/>
              </a:ext>
            </a:extLst>
          </p:cNvPr>
          <p:cNvGrpSpPr/>
          <p:nvPr/>
        </p:nvGrpSpPr>
        <p:grpSpPr>
          <a:xfrm>
            <a:off x="266700" y="1308100"/>
            <a:ext cx="11607800" cy="5308600"/>
            <a:chOff x="266700" y="1395190"/>
            <a:chExt cx="11607800" cy="5308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0EF1B1-20E4-81C4-24EE-28667B0E3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6700" y="1395190"/>
              <a:ext cx="5143500" cy="5308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FC3A54-0F31-F23C-31F6-305880C0F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096000" y="2220690"/>
              <a:ext cx="5778500" cy="4483100"/>
            </a:xfrm>
            <a:prstGeom prst="rect">
              <a:avLst/>
            </a:prstGeom>
          </p:spPr>
        </p:pic>
        <p:sp>
          <p:nvSpPr>
            <p:cNvPr id="14" name="StepCaption2">
              <a:extLst>
                <a:ext uri="{FF2B5EF4-FFF2-40B4-BE49-F238E27FC236}">
                  <a16:creationId xmlns:a16="http://schemas.microsoft.com/office/drawing/2014/main" id="{A77D70CE-F244-E849-BD37-2514782D9BE8}"/>
                </a:ext>
              </a:extLst>
            </p:cNvPr>
            <p:cNvSpPr txBox="1"/>
            <p:nvPr/>
          </p:nvSpPr>
          <p:spPr>
            <a:xfrm>
              <a:off x="6184900" y="1661890"/>
              <a:ext cx="54610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Overflow="overflow" vert="horz" wrap="square" rtlCol="0" anchor="b" anchorCtr="0">
              <a:spAutoFit/>
            </a:bodyPr>
            <a:lstStyle/>
            <a:p>
              <a:pPr algn="l"/>
              <a:r>
                <a:rPr lang="en-US" sz="1600" i="1">
                  <a:solidFill>
                    <a:srgbClr val="5E8A85"/>
                  </a:solidFill>
                  <a:latin typeface="Source Sans Pro"/>
                  <a:ea typeface="Source Sans Pro"/>
                </a:rPr>
                <a:t>And a camera to capture the eyes: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2B821F-CA5B-E751-8882-6D8292B15C9B}"/>
              </a:ext>
            </a:extLst>
          </p:cNvPr>
          <p:cNvGrpSpPr/>
          <p:nvPr/>
        </p:nvGrpSpPr>
        <p:grpSpPr>
          <a:xfrm>
            <a:off x="266700" y="1308100"/>
            <a:ext cx="11607800" cy="5308600"/>
            <a:chOff x="266700" y="1395190"/>
            <a:chExt cx="11607800" cy="53086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A4356F-6442-B273-2F71-5B1B2515B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096000" y="2220690"/>
              <a:ext cx="5778500" cy="4483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BD6942-2153-9F3A-E44E-A533625B0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6700" y="1395190"/>
              <a:ext cx="5143500" cy="5308600"/>
            </a:xfrm>
            <a:prstGeom prst="rect">
              <a:avLst/>
            </a:prstGeom>
          </p:spPr>
        </p:pic>
        <p:sp>
          <p:nvSpPr>
            <p:cNvPr id="15" name="StepCaption3">
              <a:extLst>
                <a:ext uri="{FF2B5EF4-FFF2-40B4-BE49-F238E27FC236}">
                  <a16:creationId xmlns:a16="http://schemas.microsoft.com/office/drawing/2014/main" id="{53DDCFCA-F326-C64C-A8B7-CB2EF8A4E210}"/>
                </a:ext>
              </a:extLst>
            </p:cNvPr>
            <p:cNvSpPr txBox="1"/>
            <p:nvPr/>
          </p:nvSpPr>
          <p:spPr>
            <a:xfrm>
              <a:off x="6184900" y="1661890"/>
              <a:ext cx="54610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Overflow="overflow" vert="horz" wrap="square" rtlCol="0" anchor="b" anchorCtr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5E8A85"/>
                  </a:solidFill>
                  <a:latin typeface="Source Sans Pro"/>
                  <a:ea typeface="Source Sans Pro"/>
                </a:rPr>
                <a:t>And an infrared light source to make a glint (corneal reflection):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88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D1B8-BA11-A6B3-5C4A-B646D88E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Demo: building a Stampe (1993) eye tracker</a:t>
            </a:r>
          </a:p>
        </p:txBody>
      </p:sp>
      <p:sp>
        <p:nvSpPr>
          <p:cNvPr id="3" name="TestLabel">
            <a:extLst>
              <a:ext uri="{FF2B5EF4-FFF2-40B4-BE49-F238E27FC236}">
                <a16:creationId xmlns:a16="http://schemas.microsoft.com/office/drawing/2014/main" id="{1A44F51E-8A30-D64F-BF9A-A18779C2100F}"/>
              </a:ext>
            </a:extLst>
          </p:cNvPr>
          <p:cNvSpPr txBox="1"/>
          <p:nvPr/>
        </p:nvSpPr>
        <p:spPr>
          <a:xfrm>
            <a:off x="457200" y="92891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dirty="0">
                <a:solidFill>
                  <a:srgbClr val="5E8A85"/>
                </a:solidFill>
                <a:latin typeface="Source Sans Pro"/>
                <a:ea typeface="Source Sans Pro"/>
              </a:rPr>
              <a:t>② It computes the pupil + glint for any gaze</a:t>
            </a:r>
          </a:p>
        </p:txBody>
      </p:sp>
      <p:pic>
        <p:nvPicPr>
          <p:cNvPr id="7" name="pupil_glint">
            <a:hlinkClick r:id="" action="ppaction://media"/>
            <a:extLst>
              <a:ext uri="{FF2B5EF4-FFF2-40B4-BE49-F238E27FC236}">
                <a16:creationId xmlns:a16="http://schemas.microsoft.com/office/drawing/2014/main" id="{B4B1F61E-3208-CE57-0C90-08D0CB8415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50" t="5907" r="791" b="9536"/>
          <a:stretch>
            <a:fillRect/>
          </a:stretch>
        </p:blipFill>
        <p:spPr>
          <a:xfrm>
            <a:off x="773955" y="1396895"/>
            <a:ext cx="1064409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8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88E9-4D25-151B-9998-F3F479C0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Demo: building a Stampe (1993) eye tracker</a:t>
            </a:r>
          </a:p>
        </p:txBody>
      </p:sp>
      <p:sp>
        <p:nvSpPr>
          <p:cNvPr id="3" name="TestLabel">
            <a:extLst>
              <a:ext uri="{FF2B5EF4-FFF2-40B4-BE49-F238E27FC236}">
                <a16:creationId xmlns:a16="http://schemas.microsoft.com/office/drawing/2014/main" id="{2A56D34E-C21B-0546-BCCB-6AFCAB3C7D60}"/>
              </a:ext>
            </a:extLst>
          </p:cNvPr>
          <p:cNvSpPr txBox="1"/>
          <p:nvPr/>
        </p:nvSpPr>
        <p:spPr>
          <a:xfrm>
            <a:off x="457200" y="92891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③ Calibrate → a working eye tracker</a:t>
            </a:r>
          </a:p>
        </p:txBody>
      </p:sp>
      <p:pic>
        <p:nvPicPr>
          <p:cNvPr id="5" name="10-1_calibrate">
            <a:hlinkClick r:id="" action="ppaction://media"/>
            <a:extLst>
              <a:ext uri="{FF2B5EF4-FFF2-40B4-BE49-F238E27FC236}">
                <a16:creationId xmlns:a16="http://schemas.microsoft.com/office/drawing/2014/main" id="{75C37448-9742-124B-28AA-959B75A6C6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406" t="2477" r="1468" b="3149"/>
          <a:stretch>
            <a:fillRect/>
          </a:stretch>
        </p:blipFill>
        <p:spPr>
          <a:xfrm>
            <a:off x="218809" y="1309910"/>
            <a:ext cx="11754382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1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C8E1-8283-50A6-9447-B9FEC74B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Demo: building a Stampe (1993) eye tracker</a:t>
            </a:r>
          </a:p>
        </p:txBody>
      </p:sp>
      <p:sp>
        <p:nvSpPr>
          <p:cNvPr id="3" name="TestLabel">
            <a:extLst>
              <a:ext uri="{FF2B5EF4-FFF2-40B4-BE49-F238E27FC236}">
                <a16:creationId xmlns:a16="http://schemas.microsoft.com/office/drawing/2014/main" id="{C1A1E790-980C-4049-BD92-4BFBAB5E3D61}"/>
              </a:ext>
            </a:extLst>
          </p:cNvPr>
          <p:cNvSpPr txBox="1"/>
          <p:nvPr/>
        </p:nvSpPr>
        <p:spPr>
          <a:xfrm>
            <a:off x="457200" y="92891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Screen Test — the gaze moves across the screen</a:t>
            </a:r>
          </a:p>
        </p:txBody>
      </p:sp>
      <p:pic>
        <p:nvPicPr>
          <p:cNvPr id="4" name="11-1_screen_test">
            <a:hlinkClick r:id="" action="ppaction://media"/>
            <a:extLst>
              <a:ext uri="{FF2B5EF4-FFF2-40B4-BE49-F238E27FC236}">
                <a16:creationId xmlns:a16="http://schemas.microsoft.com/office/drawing/2014/main" id="{745293F5-675A-198E-7A64-A38416C512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7323" t="6480" r="2363" b="3912"/>
          <a:stretch>
            <a:fillRect/>
          </a:stretch>
        </p:blipFill>
        <p:spPr>
          <a:xfrm>
            <a:off x="156642" y="1309910"/>
            <a:ext cx="11878716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3DBE-7EAF-792F-310A-A01E253E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Demo: building a Stampe (1993) eye tracker</a:t>
            </a:r>
          </a:p>
        </p:txBody>
      </p:sp>
      <p:sp>
        <p:nvSpPr>
          <p:cNvPr id="3" name="TestLabel">
            <a:extLst>
              <a:ext uri="{FF2B5EF4-FFF2-40B4-BE49-F238E27FC236}">
                <a16:creationId xmlns:a16="http://schemas.microsoft.com/office/drawing/2014/main" id="{5356AD5C-9079-B141-926B-A08FB1BBB86F}"/>
              </a:ext>
            </a:extLst>
          </p:cNvPr>
          <p:cNvSpPr txBox="1"/>
          <p:nvPr/>
        </p:nvSpPr>
        <p:spPr>
          <a:xfrm>
            <a:off x="457200" y="92891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>
                <a:solidFill>
                  <a:srgbClr val="5E8A85"/>
                </a:solidFill>
                <a:latin typeface="Source Sans Pro"/>
                <a:ea typeface="Source Sans Pro"/>
              </a:rPr>
              <a:t>Observer Test — the eye position moves</a:t>
            </a:r>
          </a:p>
        </p:txBody>
      </p:sp>
      <p:pic>
        <p:nvPicPr>
          <p:cNvPr id="4" name="12-1_observer_test">
            <a:hlinkClick r:id="" action="ppaction://media"/>
            <a:extLst>
              <a:ext uri="{FF2B5EF4-FFF2-40B4-BE49-F238E27FC236}">
                <a16:creationId xmlns:a16="http://schemas.microsoft.com/office/drawing/2014/main" id="{1E05803E-2989-D3DB-691A-4377A23E66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7861" t="4342" r="8639" b="4214"/>
          <a:stretch>
            <a:fillRect/>
          </a:stretch>
        </p:blipFill>
        <p:spPr>
          <a:xfrm>
            <a:off x="715114" y="1309910"/>
            <a:ext cx="10761772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A04F-1FCC-76AE-9BF4-C21752E5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F1EF-77B8-E304-007F-46BF4609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/>
              <a:t>The pupil-size artifact (PSA)</a:t>
            </a:r>
            <a:endParaRPr lang="en-US" sz="2800" b="1">
              <a:solidFill>
                <a:srgbClr val="1A3D40"/>
              </a:solidFill>
              <a:latin typeface="Source Sans Pr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0C04F-F37E-DCD3-A77B-E264FC40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9" y="1087140"/>
            <a:ext cx="11499643" cy="540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47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D2C4-C928-DE97-AF6E-FAB6A9B5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1A3D40"/>
                </a:solidFill>
                <a:latin typeface="Source Sans Pro"/>
              </a:rPr>
              <a:t>Only in simulation: the pupil-size artifact</a:t>
            </a:r>
          </a:p>
        </p:txBody>
      </p:sp>
      <p:pic>
        <p:nvPicPr>
          <p:cNvPr id="6" name="13-1_pupil_size_artifact">
            <a:hlinkClick r:id="" action="ppaction://media"/>
            <a:extLst>
              <a:ext uri="{FF2B5EF4-FFF2-40B4-BE49-F238E27FC236}">
                <a16:creationId xmlns:a16="http://schemas.microsoft.com/office/drawing/2014/main" id="{E23F905C-AE3A-0756-A527-EEFF68C4E1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4210" b="4755"/>
          <a:stretch>
            <a:fillRect/>
          </a:stretch>
        </p:blipFill>
        <p:spPr>
          <a:xfrm>
            <a:off x="2370639" y="980092"/>
            <a:ext cx="7450721" cy="58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379D-25E5-204D-2F05-533B0709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310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PyEtSimul vs other simulators</a:t>
            </a:r>
          </a:p>
        </p:txBody>
      </p:sp>
      <p:sp>
        <p:nvSpPr>
          <p:cNvPr id="3" name="LeftCol">
            <a:extLst>
              <a:ext uri="{FF2B5EF4-FFF2-40B4-BE49-F238E27FC236}">
                <a16:creationId xmlns:a16="http://schemas.microsoft.com/office/drawing/2014/main" id="{9FB68E6E-AEB7-C64C-AAAF-0C67D3DC61B9}"/>
              </a:ext>
            </a:extLst>
          </p:cNvPr>
          <p:cNvSpPr txBox="1"/>
          <p:nvPr/>
        </p:nvSpPr>
        <p:spPr>
          <a:xfrm>
            <a:off x="789709" y="1349164"/>
            <a:ext cx="5486400" cy="370357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800" b="1">
                <a:solidFill>
                  <a:srgbClr val="1A3D40"/>
                </a:solidFill>
                <a:latin typeface="Source Sans Pro"/>
              </a:rPr>
              <a:t>How PyEtSimul compares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Complementary to image-rendering simulators (UnityEyes, NVGaze) that generate eye images to train deep-learning gaze models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Feature-level access opens the black box — letting you isolate the factors that affect gaze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The only open-source Python tool with a complete eye-tracking simulation workflow</a:t>
            </a:r>
          </a:p>
        </p:txBody>
      </p:sp>
      <p:sp>
        <p:nvSpPr>
          <p:cNvPr id="4" name="RightCol">
            <a:extLst>
              <a:ext uri="{FF2B5EF4-FFF2-40B4-BE49-F238E27FC236}">
                <a16:creationId xmlns:a16="http://schemas.microsoft.com/office/drawing/2014/main" id="{395F4DF3-6D7A-D244-BC1D-395AB7894D94}"/>
              </a:ext>
            </a:extLst>
          </p:cNvPr>
          <p:cNvSpPr txBox="1"/>
          <p:nvPr/>
        </p:nvSpPr>
        <p:spPr>
          <a:xfrm>
            <a:off x="6580909" y="1349164"/>
            <a:ext cx="5486400" cy="372922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800" b="1">
                <a:solidFill>
                  <a:srgbClr val="C9B891"/>
                </a:solidFill>
                <a:latin typeface="Source Sans Pro"/>
              </a:rPr>
              <a:t>Limitations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Feature-level / analytical — no image-level effects (detection errors, illumination, imaging artifacts)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No limbus, iris texture, or crystalline lens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Point light sources only (no spatial extent)</a:t>
            </a:r>
          </a:p>
          <a:p>
            <a:pPr marL="285750" indent="-285750" algn="l">
              <a:spcBef>
                <a:spcPts val="2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>
                <a:solidFill>
                  <a:srgbClr val="5E8A85"/>
                </a:solidFill>
                <a:latin typeface="Source Sans Pro"/>
              </a:rPr>
              <a:t>No posterior corneal-surface refraction</a:t>
            </a:r>
          </a:p>
        </p:txBody>
      </p:sp>
    </p:spTree>
    <p:extLst>
      <p:ext uri="{BB962C8B-B14F-4D97-AF65-F5344CB8AC3E}">
        <p14:creationId xmlns:p14="http://schemas.microsoft.com/office/powerpoint/2010/main" val="243452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66C4-4515-E131-B296-414C3878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726"/>
            <a:ext cx="11277600" cy="762000"/>
          </a:xfrm>
        </p:spPr>
        <p:txBody>
          <a:bodyPr/>
          <a:lstStyle/>
          <a:p>
            <a:pPr algn="ctr"/>
            <a:r>
              <a:rPr lang="en-US" sz="2800" b="1">
                <a:solidFill>
                  <a:srgbClr val="1A3D40"/>
                </a:solidFill>
                <a:latin typeface="Source Sans Pro"/>
              </a:rPr>
              <a:t>Thank you! Any 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20788-BEB4-9027-C303-07C22F75B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478" y="1538807"/>
            <a:ext cx="2139043" cy="2139043"/>
          </a:xfrm>
          <a:prstGeom prst="rect">
            <a:avLst/>
          </a:prstGeom>
        </p:spPr>
      </p:pic>
      <p:sp>
        <p:nvSpPr>
          <p:cNvPr id="5" name="QRCaption">
            <a:hlinkClick r:id="rId3"/>
            <a:extLst>
              <a:ext uri="{FF2B5EF4-FFF2-40B4-BE49-F238E27FC236}">
                <a16:creationId xmlns:a16="http://schemas.microsoft.com/office/drawing/2014/main" id="{0CE694BF-CA24-0F4C-85C7-3774208449DB}"/>
              </a:ext>
            </a:extLst>
          </p:cNvPr>
          <p:cNvSpPr txBox="1"/>
          <p:nvPr/>
        </p:nvSpPr>
        <p:spPr>
          <a:xfrm>
            <a:off x="3385910" y="3761285"/>
            <a:ext cx="5420179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i="1">
                <a:solidFill>
                  <a:srgbClr val="5E8A85"/>
                </a:solidFill>
                <a:latin typeface="Source Sans Pro"/>
              </a:rPr>
              <a:t>Get the code, slides, and more at:  </a:t>
            </a:r>
            <a:r>
              <a:rPr lang="en-US" sz="1600">
                <a:solidFill>
                  <a:schemeClr val="accent4"/>
                </a:solidFill>
                <a:latin typeface="Source Sans Pro"/>
              </a:rPr>
              <a:t>mh-salari.ir/news/ETRA2026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B68D9-96A7-FBCD-4739-08FBB009FE8A}"/>
              </a:ext>
            </a:extLst>
          </p:cNvPr>
          <p:cNvGrpSpPr/>
          <p:nvPr/>
        </p:nvGrpSpPr>
        <p:grpSpPr>
          <a:xfrm>
            <a:off x="1948157" y="4681845"/>
            <a:ext cx="8295686" cy="1714500"/>
            <a:chOff x="1692364" y="4472831"/>
            <a:chExt cx="8295686" cy="1714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1C95824-6974-23B9-2629-86A82F4EF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762" t="20262" r="14166" b="22738"/>
            <a:stretch>
              <a:fillRect/>
            </a:stretch>
          </p:blipFill>
          <p:spPr>
            <a:xfrm>
              <a:off x="1692364" y="4702776"/>
              <a:ext cx="1410257" cy="125461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B129A36-914B-A795-CF5E-97951713F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31628" y="4611080"/>
              <a:ext cx="2611954" cy="143800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534469-46CE-5DFD-7DE6-7517AD361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2589" y="4472831"/>
              <a:ext cx="1714500" cy="1714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6A4FF4-34E0-9C62-21D4-BCA2BFC44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6096" y="4694104"/>
              <a:ext cx="1271954" cy="12719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8031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02CBAC8-9C38-5111-1080-A3A2DC181242}"/>
              </a:ext>
            </a:extLst>
          </p:cNvPr>
          <p:cNvGrpSpPr/>
          <p:nvPr/>
        </p:nvGrpSpPr>
        <p:grpSpPr>
          <a:xfrm>
            <a:off x="5024151" y="164038"/>
            <a:ext cx="2143699" cy="790272"/>
            <a:chOff x="4682169" y="164038"/>
            <a:chExt cx="2143699" cy="79027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C43258F6-0F93-DAAF-8901-E7A8DB77705C}"/>
                </a:ext>
              </a:extLst>
            </p:cNvPr>
            <p:cNvSpPr txBox="1">
              <a:spLocks/>
            </p:cNvSpPr>
            <p:nvPr/>
          </p:nvSpPr>
          <p:spPr>
            <a:xfrm>
              <a:off x="5366133" y="192310"/>
              <a:ext cx="1459735" cy="762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rgbClr val="1A3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b="1" dirty="0" err="1">
                  <a:latin typeface="Source Sans Pro"/>
                </a:rPr>
                <a:t>Cheshm</a:t>
              </a:r>
              <a:endParaRPr lang="en-US" sz="2800" b="1" dirty="0">
                <a:latin typeface="Source Sans Pro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ED2D745-FDE0-2709-DAB1-4D63F91BC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2169" y="164038"/>
              <a:ext cx="693199" cy="69319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888E604-DF65-A2A6-7F1F-46D87C28C891}"/>
              </a:ext>
            </a:extLst>
          </p:cNvPr>
          <p:cNvSpPr txBox="1"/>
          <p:nvPr/>
        </p:nvSpPr>
        <p:spPr>
          <a:xfrm>
            <a:off x="246961" y="1406449"/>
            <a:ext cx="382560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Pupil 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Starburst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Swirski2D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ExCuSe</a:t>
            </a: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</a:t>
            </a: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PuReST</a:t>
            </a: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PupilLabs2D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Glint: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Limbus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Daugman</a:t>
            </a: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integro</a:t>
            </a: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-differential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Daugman</a:t>
            </a: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active contour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Pupil-guided active contour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C0A3E-22D5-FE94-4A86-C8756CD61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008" y="1230180"/>
            <a:ext cx="8426985" cy="547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55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567BBDE-6177-F1B8-F67A-023C4D5BACF1}"/>
              </a:ext>
            </a:extLst>
          </p:cNvPr>
          <p:cNvGrpSpPr/>
          <p:nvPr/>
        </p:nvGrpSpPr>
        <p:grpSpPr>
          <a:xfrm>
            <a:off x="3958149" y="93098"/>
            <a:ext cx="4275702" cy="960424"/>
            <a:chOff x="3600440" y="93098"/>
            <a:chExt cx="4275702" cy="9604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946E69-9472-DB50-6139-CCE3BCDC6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0440" y="93098"/>
              <a:ext cx="960424" cy="960424"/>
            </a:xfrm>
            <a:prstGeom prst="rect">
              <a:avLst/>
            </a:prstGeom>
          </p:spPr>
        </p:pic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F0F3A266-46C3-8BD3-60AA-FA8E9A0FFDFC}"/>
                </a:ext>
              </a:extLst>
            </p:cNvPr>
            <p:cNvSpPr txBox="1">
              <a:spLocks/>
            </p:cNvSpPr>
            <p:nvPr/>
          </p:nvSpPr>
          <p:spPr>
            <a:xfrm>
              <a:off x="4315859" y="192310"/>
              <a:ext cx="3560283" cy="762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rgbClr val="1A3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b="1" dirty="0" err="1">
                  <a:latin typeface="Source Sans Pro"/>
                </a:rPr>
                <a:t>EyE</a:t>
              </a:r>
              <a:r>
                <a:rPr lang="en-US" sz="2800" b="1" dirty="0">
                  <a:latin typeface="Source Sans Pro"/>
                </a:rPr>
                <a:t> Annotation Tool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6A8CC4-1BBF-6272-6A93-AEAF8BDAC8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03"/>
          <a:stretch>
            <a:fillRect/>
          </a:stretch>
        </p:blipFill>
        <p:spPr>
          <a:xfrm>
            <a:off x="1574264" y="1017950"/>
            <a:ext cx="9043471" cy="568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6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025222223]">
  <a:themeElements>
    <a:clrScheme name="Office">
      <a:dk1>
        <a:srgbClr val="1A3D40"/>
      </a:dk1>
      <a:lt1>
        <a:srgbClr val="FFFFFF"/>
      </a:lt1>
      <a:dk2>
        <a:srgbClr val="5E8A85"/>
      </a:dk2>
      <a:lt2>
        <a:srgbClr val="F5F2EA"/>
      </a:lt2>
      <a:accent1>
        <a:srgbClr val="C9B891"/>
      </a:accent1>
      <a:accent2>
        <a:srgbClr val="5E8A85"/>
      </a:accent2>
      <a:accent3>
        <a:srgbClr val="1A3D40"/>
      </a:accent3>
      <a:accent4>
        <a:srgbClr val="7BAE9B"/>
      </a:accent4>
      <a:accent5>
        <a:srgbClr val="C9B891"/>
      </a:accent5>
      <a:accent6>
        <a:srgbClr val="5E8A85"/>
      </a:accent6>
      <a:hlink>
        <a:srgbClr val="467886"/>
      </a:hlink>
      <a:folHlink>
        <a:srgbClr val="96607D"/>
      </a:folHlink>
    </a:clrScheme>
    <a:fontScheme name="Office">
      <a:majorFont>
        <a:latin typeface="Source Sans Pro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0032094109]">
  <a:themeElements>
    <a:clrScheme name="Office">
      <a:dk1>
        <a:srgbClr val="1A3D40"/>
      </a:dk1>
      <a:lt1>
        <a:srgbClr val="FFFFFF"/>
      </a:lt1>
      <a:dk2>
        <a:srgbClr val="5E8A85"/>
      </a:dk2>
      <a:lt2>
        <a:srgbClr val="F5F2EA"/>
      </a:lt2>
      <a:accent1>
        <a:srgbClr val="C9B891"/>
      </a:accent1>
      <a:accent2>
        <a:srgbClr val="5E8A85"/>
      </a:accent2>
      <a:accent3>
        <a:srgbClr val="1A3D40"/>
      </a:accent3>
      <a:accent4>
        <a:srgbClr val="7BAE9B"/>
      </a:accent4>
      <a:accent5>
        <a:srgbClr val="C9B891"/>
      </a:accent5>
      <a:accent6>
        <a:srgbClr val="5E8A85"/>
      </a:accent6>
      <a:hlink>
        <a:srgbClr val="467886"/>
      </a:hlink>
      <a:folHlink>
        <a:srgbClr val="96607D"/>
      </a:folHlink>
    </a:clrScheme>
    <a:fontScheme name="Office">
      <a:majorFont>
        <a:latin typeface="Source Sans Pro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99F233-2AB3-754D-AF60-1AB86CDD92B6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53b52ba-f9fd-419b-b1e5-89c7962e428f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cf163e2-bd42-4b57-a8fd-71dfe836f97a}" enabled="1" method="Privileged" siteId="{87879f2e-7304-4bf2-baf2-63e7f83f3c3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2155</Words>
  <Application>Microsoft Macintosh PowerPoint</Application>
  <PresentationFormat>Widescreen</PresentationFormat>
  <Paragraphs>218</Paragraphs>
  <Slides>22</Slides>
  <Notes>20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Courier New</vt:lpstr>
      <vt:lpstr>Source Sans Pro</vt:lpstr>
      <vt:lpstr>Office Theme [1780025222223]</vt:lpstr>
      <vt:lpstr>Office Theme [1780032094109]</vt:lpstr>
      <vt:lpstr>PowerPoint Presentation</vt:lpstr>
      <vt:lpstr>Video-based eye tracking: from eye images to gaze data</vt:lpstr>
      <vt:lpstr>PyEtSimul: a feature-based simulator</vt:lpstr>
      <vt:lpstr>The eye model</vt:lpstr>
      <vt:lpstr>Corneal reflection</vt:lpstr>
      <vt:lpstr>Corneal refraction</vt:lpstr>
      <vt:lpstr>Conic cornea</vt:lpstr>
      <vt:lpstr>Spherical cornea</vt:lpstr>
      <vt:lpstr>Pupil model</vt:lpstr>
      <vt:lpstr>PyEtSimul: built on et_simul (Böhme et al. 2008), substantially extended</vt:lpstr>
      <vt:lpstr>Setup for the demo</vt:lpstr>
      <vt:lpstr>Demo: building a Stampe (1993) eye tracker</vt:lpstr>
      <vt:lpstr>Demo: building a Stampe (1993) eye tracker</vt:lpstr>
      <vt:lpstr>Demo: building a Stampe (1993) eye tracker</vt:lpstr>
      <vt:lpstr>Demo: building a Stampe (1993) eye tracker</vt:lpstr>
      <vt:lpstr>Demo: building a Stampe (1993) eye tracker</vt:lpstr>
      <vt:lpstr>The pupil-size artifact (PSA)</vt:lpstr>
      <vt:lpstr>Only in simulation: the pupil-size artifact</vt:lpstr>
      <vt:lpstr>PyEtSimul vs other simulators</vt:lpstr>
      <vt:lpstr>Thank you! Any questions?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Mohammadhossein Salari</dc:creator>
  <cp:lastModifiedBy>Mohammadhossein Salari</cp:lastModifiedBy>
  <cp:revision>2</cp:revision>
  <cp:lastPrinted>2026-05-29T06:40:34Z</cp:lastPrinted>
  <dcterms:created xsi:type="dcterms:W3CDTF">2026-05-29T02:46:41Z</dcterms:created>
  <dcterms:modified xsi:type="dcterms:W3CDTF">2026-05-31T13:37:58Z</dcterms:modified>
</cp:coreProperties>
</file>